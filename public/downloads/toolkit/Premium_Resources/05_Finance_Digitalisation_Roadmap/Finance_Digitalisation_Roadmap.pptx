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A3C5E"/>
            </a:solidFill>
            <a:effectLst/>
          </c:spPr>
          <c:invertIfNegative val="0"/>
          <c:dLbls>
            <c:numFmt formatCode="#,##0" sourceLinked="0"/>
            <c:spPr>
              <a:noFill/>
              <a:ln>
                <a:noFill/>
              </a:ln>
              <a:effectLst/>
            </c:spPr>
            <c:txPr>
              <a:bodyPr/>
              <a:lstStyle/>
              <a:p>
                <a:pPr>
                  <a:defRPr sz="1200" b="1" i="0" u="none" strike="noStrike">
                    <a:solidFill>
                      <a:srgbClr val="2D3748"/>
                    </a:solidFill>
                    <a:latin typeface="Arial"/>
                  </a:defRPr>
                </a:pPr>
                <a:endParaRPr lang="en-001"/>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Core Systems
&amp; ERP</c:v>
                </c:pt>
                <c:pt idx="1">
                  <c:v>Data &amp;
Reporting</c:v>
                </c:pt>
                <c:pt idx="2">
                  <c:v>Process
Automation</c:v>
                </c:pt>
                <c:pt idx="3">
                  <c:v>Team Skills &amp;
Capability</c:v>
                </c:pt>
                <c:pt idx="4">
                  <c:v>Governance
&amp; Controls</c:v>
                </c:pt>
              </c:strCache>
            </c:strRef>
          </c:cat>
          <c:val>
            <c:numRef>
              <c:f>Sheet1!$B$2:$B$6</c:f>
              <c:numCache>
                <c:formatCode>General</c:formatCode>
                <c:ptCount val="5"/>
                <c:pt idx="0">
                  <c:v>14</c:v>
                </c:pt>
                <c:pt idx="1">
                  <c:v>10</c:v>
                </c:pt>
                <c:pt idx="2">
                  <c:v>9</c:v>
                </c:pt>
                <c:pt idx="3">
                  <c:v>14</c:v>
                </c:pt>
                <c:pt idx="4">
                  <c:v>13</c:v>
                </c:pt>
              </c:numCache>
            </c:numRef>
          </c:val>
          <c:extLst>
            <c:ext xmlns:c16="http://schemas.microsoft.com/office/drawing/2014/chart" uri="{C3380CC4-5D6E-409C-BE32-E72D297353CC}">
              <c16:uniqueId val="{00000000-BD34-498B-852A-10A7ED20FC0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98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0149840" y="4389120"/>
            <a:ext cx="3291840" cy="3291840"/>
          </a:xfrm>
          <a:prstGeom prst="ellipse">
            <a:avLst/>
          </a:prstGeom>
          <a:ln w="12700">
            <a:solidFill>
              <a:srgbClr val="C07A2D">
                <a:alpha val="45000"/>
              </a:srgbClr>
            </a:solidFill>
            <a:prstDash val="solid"/>
          </a:ln>
        </p:spPr>
        <p:txBody>
          <a:bodyPr/>
          <a:lstStyle/>
          <a:p>
            <a:endParaRPr lang="en-001"/>
          </a:p>
        </p:txBody>
      </p:sp>
      <p:sp>
        <p:nvSpPr>
          <p:cNvPr id="3" name="Shape 1"/>
          <p:cNvSpPr/>
          <p:nvPr/>
        </p:nvSpPr>
        <p:spPr>
          <a:xfrm>
            <a:off x="9464040" y="3703320"/>
            <a:ext cx="4663440" cy="4663440"/>
          </a:xfrm>
          <a:prstGeom prst="ellipse">
            <a:avLst/>
          </a:prstGeom>
          <a:ln w="12700">
            <a:solidFill>
              <a:srgbClr val="C07A2D">
                <a:alpha val="37000"/>
              </a:srgbClr>
            </a:solidFill>
            <a:prstDash val="solid"/>
          </a:ln>
        </p:spPr>
        <p:txBody>
          <a:bodyPr/>
          <a:lstStyle/>
          <a:p>
            <a:endParaRPr lang="en-001"/>
          </a:p>
        </p:txBody>
      </p:sp>
      <p:sp>
        <p:nvSpPr>
          <p:cNvPr id="4" name="Shape 2"/>
          <p:cNvSpPr/>
          <p:nvPr/>
        </p:nvSpPr>
        <p:spPr>
          <a:xfrm>
            <a:off x="8778240" y="3017520"/>
            <a:ext cx="6035040" cy="6035040"/>
          </a:xfrm>
          <a:prstGeom prst="ellipse">
            <a:avLst/>
          </a:prstGeom>
          <a:ln w="12700">
            <a:solidFill>
              <a:srgbClr val="C07A2D">
                <a:alpha val="29000"/>
              </a:srgbClr>
            </a:solidFill>
            <a:prstDash val="solid"/>
          </a:ln>
        </p:spPr>
        <p:txBody>
          <a:bodyPr/>
          <a:lstStyle/>
          <a:p>
            <a:endParaRPr lang="en-001"/>
          </a:p>
        </p:txBody>
      </p:sp>
      <p:sp>
        <p:nvSpPr>
          <p:cNvPr id="5" name="Shape 3"/>
          <p:cNvSpPr/>
          <p:nvPr/>
        </p:nvSpPr>
        <p:spPr>
          <a:xfrm>
            <a:off x="8092440" y="2331720"/>
            <a:ext cx="7406640" cy="7406640"/>
          </a:xfrm>
          <a:prstGeom prst="ellipse">
            <a:avLst/>
          </a:prstGeom>
          <a:ln w="12700">
            <a:solidFill>
              <a:srgbClr val="C07A2D">
                <a:alpha val="21000"/>
              </a:srgbClr>
            </a:solidFill>
            <a:prstDash val="solid"/>
          </a:ln>
        </p:spPr>
        <p:txBody>
          <a:bodyPr/>
          <a:lstStyle/>
          <a:p>
            <a:endParaRPr lang="en-001"/>
          </a:p>
        </p:txBody>
      </p:sp>
      <p:sp>
        <p:nvSpPr>
          <p:cNvPr id="6" name="Text 4"/>
          <p:cNvSpPr/>
          <p:nvPr/>
        </p:nvSpPr>
        <p:spPr>
          <a:xfrm>
            <a:off x="640080" y="141732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PREMIUM RESOURCE · AI &amp; FINANCE AUTOMATION</a:t>
            </a:r>
            <a:endParaRPr lang="en-US" sz="1100" dirty="0"/>
          </a:p>
        </p:txBody>
      </p:sp>
      <p:sp>
        <p:nvSpPr>
          <p:cNvPr id="7" name="Text 5"/>
          <p:cNvSpPr/>
          <p:nvPr/>
        </p:nvSpPr>
        <p:spPr>
          <a:xfrm>
            <a:off x="594360" y="1828800"/>
            <a:ext cx="9601200" cy="1920240"/>
          </a:xfrm>
          <a:prstGeom prst="rect">
            <a:avLst/>
          </a:prstGeom>
          <a:noFill/>
          <a:ln/>
        </p:spPr>
        <p:txBody>
          <a:bodyPr wrap="square" rtlCol="0" anchor="ctr"/>
          <a:lstStyle/>
          <a:p>
            <a:pPr marL="0" indent="0">
              <a:lnSpc>
                <a:spcPts val="4600"/>
              </a:lnSpc>
              <a:buNone/>
            </a:pPr>
            <a:r>
              <a:rPr lang="en-US" sz="4000" b="1" dirty="0">
                <a:solidFill>
                  <a:srgbClr val="FFFFFF"/>
                </a:solidFill>
                <a:latin typeface="Bookman Old Style" pitchFamily="34" charset="0"/>
                <a:ea typeface="Bookman Old Style" pitchFamily="34" charset="-122"/>
                <a:cs typeface="Bookman Old Style" pitchFamily="34" charset="-120"/>
              </a:rPr>
              <a:t>Finance Function</a:t>
            </a:r>
            <a:endParaRPr lang="en-US" sz="4000" dirty="0"/>
          </a:p>
          <a:p>
            <a:pPr marL="0" indent="0">
              <a:lnSpc>
                <a:spcPts val="4600"/>
              </a:lnSpc>
              <a:buNone/>
            </a:pPr>
            <a:r>
              <a:rPr lang="en-US" sz="4000" b="1" dirty="0">
                <a:solidFill>
                  <a:srgbClr val="FFFFFF"/>
                </a:solidFill>
                <a:latin typeface="Bookman Old Style" pitchFamily="34" charset="0"/>
                <a:ea typeface="Bookman Old Style" pitchFamily="34" charset="-122"/>
                <a:cs typeface="Bookman Old Style" pitchFamily="34" charset="-120"/>
              </a:rPr>
              <a:t>Digitalisation Roadmap</a:t>
            </a:r>
            <a:endParaRPr lang="en-US" sz="4000" dirty="0"/>
          </a:p>
        </p:txBody>
      </p:sp>
      <p:sp>
        <p:nvSpPr>
          <p:cNvPr id="8" name="Text 6"/>
          <p:cNvSpPr/>
          <p:nvPr/>
        </p:nvSpPr>
        <p:spPr>
          <a:xfrm>
            <a:off x="640080" y="3703320"/>
            <a:ext cx="8229600" cy="457200"/>
          </a:xfrm>
          <a:prstGeom prst="rect">
            <a:avLst/>
          </a:prstGeom>
          <a:noFill/>
          <a:ln/>
        </p:spPr>
        <p:txBody>
          <a:bodyPr wrap="square" rtlCol="0" anchor="ctr"/>
          <a:lstStyle/>
          <a:p>
            <a:pPr marL="0" indent="0">
              <a:buNone/>
            </a:pPr>
            <a:r>
              <a:rPr lang="en-US" sz="1800" dirty="0">
                <a:solidFill>
                  <a:srgbClr val="C7CDD6"/>
                </a:solidFill>
                <a:latin typeface="Calibri" pitchFamily="34" charset="0"/>
                <a:ea typeface="Calibri" pitchFamily="34" charset="-122"/>
                <a:cs typeface="Calibri" pitchFamily="34" charset="-120"/>
              </a:rPr>
              <a:t>A 12-Month Plan for Finance Transformation</a:t>
            </a:r>
            <a:endParaRPr lang="en-US" sz="1800" dirty="0"/>
          </a:p>
        </p:txBody>
      </p:sp>
      <p:sp>
        <p:nvSpPr>
          <p:cNvPr id="9" name="Text 7"/>
          <p:cNvSpPr/>
          <p:nvPr/>
        </p:nvSpPr>
        <p:spPr>
          <a:xfrm>
            <a:off x="640080" y="4160520"/>
            <a:ext cx="8229600" cy="365760"/>
          </a:xfrm>
          <a:prstGeom prst="rect">
            <a:avLst/>
          </a:prstGeom>
          <a:noFill/>
          <a:ln/>
        </p:spPr>
        <p:txBody>
          <a:bodyPr wrap="square" rtlCol="0" anchor="ctr"/>
          <a:lstStyle/>
          <a:p>
            <a:pPr marL="0" indent="0">
              <a:buNone/>
            </a:pPr>
            <a:r>
              <a:rPr lang="en-US" sz="1300" i="1" dirty="0">
                <a:solidFill>
                  <a:srgbClr val="8DA0B8"/>
                </a:solidFill>
                <a:latin typeface="Calibri" pitchFamily="34" charset="0"/>
                <a:ea typeface="Calibri" pitchFamily="34" charset="-122"/>
                <a:cs typeface="Calibri" pitchFamily="34" charset="-120"/>
              </a:rPr>
              <a:t>Current state assessment  ·  priority initiatives  ·  resourcing  ·  KPIs</a:t>
            </a:r>
            <a:endParaRPr lang="en-US" sz="1300" dirty="0"/>
          </a:p>
        </p:txBody>
      </p:sp>
      <p:sp>
        <p:nvSpPr>
          <p:cNvPr id="10" name="Text 8"/>
          <p:cNvSpPr/>
          <p:nvPr/>
        </p:nvSpPr>
        <p:spPr>
          <a:xfrm>
            <a:off x="640080" y="6126480"/>
            <a:ext cx="45720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MDD Business Consulting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3000" b="1" dirty="0">
                <a:solidFill>
                  <a:srgbClr val="0D1B2A"/>
                </a:solidFill>
                <a:latin typeface="Bookman Old Style" pitchFamily="34" charset="0"/>
                <a:ea typeface="Bookman Old Style" pitchFamily="34" charset="-122"/>
                <a:cs typeface="Bookman Old Style" pitchFamily="34" charset="-120"/>
              </a:rPr>
              <a:t>Why This Matters Now</a:t>
            </a:r>
            <a:endParaRPr lang="en-US" sz="3000" dirty="0"/>
          </a:p>
        </p:txBody>
      </p:sp>
      <p:sp>
        <p:nvSpPr>
          <p:cNvPr id="4" name="Text 2"/>
          <p:cNvSpPr/>
          <p:nvPr/>
        </p:nvSpPr>
        <p:spPr>
          <a:xfrm>
            <a:off x="640080" y="1417320"/>
            <a:ext cx="10881360" cy="822960"/>
          </a:xfrm>
          <a:prstGeom prst="rect">
            <a:avLst/>
          </a:prstGeom>
          <a:noFill/>
          <a:ln/>
        </p:spPr>
        <p:txBody>
          <a:bodyPr wrap="square" rtlCol="0" anchor="ctr"/>
          <a:lstStyle/>
          <a:p>
            <a:pPr marL="0" indent="0">
              <a:lnSpc>
                <a:spcPct val="125000"/>
              </a:lnSpc>
              <a:buNone/>
            </a:pPr>
            <a:r>
              <a:rPr lang="en-US" sz="1400" dirty="0">
                <a:solidFill>
                  <a:srgbClr val="2D3748"/>
                </a:solidFill>
                <a:latin typeface="Calibri" pitchFamily="34" charset="0"/>
                <a:ea typeface="Calibri" pitchFamily="34" charset="-122"/>
                <a:cs typeface="Calibri" pitchFamily="34" charset="-120"/>
              </a:rPr>
              <a:t>Finance functions are being asked to deliver deeper insight with the same headcount, while AI and automation tools mature faster than most teams can evaluate them. This roadmap turns that pressure into a sequenced, resourced 12-month plan — starting from an honest assessment of where the function actually stands today.</a:t>
            </a:r>
            <a:endParaRPr lang="en-US" sz="1400" dirty="0"/>
          </a:p>
        </p:txBody>
      </p:sp>
      <p:sp>
        <p:nvSpPr>
          <p:cNvPr id="5" name="Shape 3"/>
          <p:cNvSpPr/>
          <p:nvPr/>
        </p:nvSpPr>
        <p:spPr>
          <a:xfrm>
            <a:off x="640080" y="2743200"/>
            <a:ext cx="2514600" cy="2148840"/>
          </a:xfrm>
          <a:prstGeom prst="roundRect">
            <a:avLst>
              <a:gd name="adj" fmla="val 3404"/>
            </a:avLst>
          </a:prstGeom>
          <a:solidFill>
            <a:srgbClr val="F7F3ED"/>
          </a:solidFill>
          <a:ln w="9525">
            <a:solidFill>
              <a:srgbClr val="CBD5E0"/>
            </a:solidFill>
            <a:prstDash val="solid"/>
          </a:ln>
        </p:spPr>
        <p:txBody>
          <a:bodyPr/>
          <a:lstStyle/>
          <a:p>
            <a:endParaRPr lang="en-001"/>
          </a:p>
        </p:txBody>
      </p:sp>
      <p:sp>
        <p:nvSpPr>
          <p:cNvPr id="6" name="Text 4"/>
          <p:cNvSpPr/>
          <p:nvPr/>
        </p:nvSpPr>
        <p:spPr>
          <a:xfrm>
            <a:off x="640080" y="3063240"/>
            <a:ext cx="2514600" cy="914400"/>
          </a:xfrm>
          <a:prstGeom prst="rect">
            <a:avLst/>
          </a:prstGeom>
          <a:noFill/>
          <a:ln/>
        </p:spPr>
        <p:txBody>
          <a:bodyPr wrap="square" rtlCol="0" anchor="ctr"/>
          <a:lstStyle/>
          <a:p>
            <a:pPr marL="0" indent="0" algn="ctr">
              <a:buNone/>
            </a:pPr>
            <a:r>
              <a:rPr lang="en-US" sz="3400" b="1" dirty="0">
                <a:solidFill>
                  <a:srgbClr val="C07A2D"/>
                </a:solidFill>
                <a:latin typeface="Bookman Old Style" pitchFamily="34" charset="0"/>
                <a:ea typeface="Bookman Old Style" pitchFamily="34" charset="-122"/>
                <a:cs typeface="Bookman Old Style" pitchFamily="34" charset="-120"/>
              </a:rPr>
              <a:t>60/100</a:t>
            </a:r>
            <a:endParaRPr lang="en-US" sz="3400" dirty="0"/>
          </a:p>
        </p:txBody>
      </p:sp>
      <p:sp>
        <p:nvSpPr>
          <p:cNvPr id="7" name="Text 5"/>
          <p:cNvSpPr/>
          <p:nvPr/>
        </p:nvSpPr>
        <p:spPr>
          <a:xfrm>
            <a:off x="777240" y="4069080"/>
            <a:ext cx="2240280" cy="685800"/>
          </a:xfrm>
          <a:prstGeom prst="rect">
            <a:avLst/>
          </a:prstGeom>
          <a:noFill/>
          <a:ln/>
        </p:spPr>
        <p:txBody>
          <a:bodyPr wrap="square" rtlCol="0" anchor="ctr"/>
          <a:lstStyle/>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Current Digital</a:t>
            </a:r>
            <a:endParaRPr lang="en-US" sz="1250" dirty="0"/>
          </a:p>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Maturity Score</a:t>
            </a:r>
            <a:endParaRPr lang="en-US" sz="1250" dirty="0"/>
          </a:p>
        </p:txBody>
      </p:sp>
      <p:sp>
        <p:nvSpPr>
          <p:cNvPr id="8" name="Shape 6"/>
          <p:cNvSpPr/>
          <p:nvPr/>
        </p:nvSpPr>
        <p:spPr>
          <a:xfrm>
            <a:off x="3474720" y="2743200"/>
            <a:ext cx="2514600" cy="2148840"/>
          </a:xfrm>
          <a:prstGeom prst="roundRect">
            <a:avLst>
              <a:gd name="adj" fmla="val 3404"/>
            </a:avLst>
          </a:prstGeom>
          <a:solidFill>
            <a:srgbClr val="F7F3ED"/>
          </a:solidFill>
          <a:ln w="9525">
            <a:solidFill>
              <a:srgbClr val="CBD5E0"/>
            </a:solidFill>
            <a:prstDash val="solid"/>
          </a:ln>
        </p:spPr>
        <p:txBody>
          <a:bodyPr/>
          <a:lstStyle/>
          <a:p>
            <a:endParaRPr lang="en-001"/>
          </a:p>
        </p:txBody>
      </p:sp>
      <p:sp>
        <p:nvSpPr>
          <p:cNvPr id="9" name="Text 7"/>
          <p:cNvSpPr/>
          <p:nvPr/>
        </p:nvSpPr>
        <p:spPr>
          <a:xfrm>
            <a:off x="3474720" y="3063240"/>
            <a:ext cx="2514600" cy="914400"/>
          </a:xfrm>
          <a:prstGeom prst="rect">
            <a:avLst/>
          </a:prstGeom>
          <a:noFill/>
          <a:ln/>
        </p:spPr>
        <p:txBody>
          <a:bodyPr wrap="square" rtlCol="0" anchor="ctr"/>
          <a:lstStyle/>
          <a:p>
            <a:pPr marL="0" indent="0" algn="ctr">
              <a:buNone/>
            </a:pPr>
            <a:r>
              <a:rPr lang="en-US" sz="3400" b="1" dirty="0">
                <a:solidFill>
                  <a:srgbClr val="C07A2D"/>
                </a:solidFill>
                <a:latin typeface="Bookman Old Style" pitchFamily="34" charset="0"/>
                <a:ea typeface="Bookman Old Style" pitchFamily="34" charset="-122"/>
                <a:cs typeface="Bookman Old Style" pitchFamily="34" charset="-120"/>
              </a:rPr>
              <a:t>15</a:t>
            </a:r>
            <a:endParaRPr lang="en-US" sz="3400" dirty="0"/>
          </a:p>
        </p:txBody>
      </p:sp>
      <p:sp>
        <p:nvSpPr>
          <p:cNvPr id="10" name="Text 8"/>
          <p:cNvSpPr/>
          <p:nvPr/>
        </p:nvSpPr>
        <p:spPr>
          <a:xfrm>
            <a:off x="3611880" y="4069080"/>
            <a:ext cx="2240280" cy="685800"/>
          </a:xfrm>
          <a:prstGeom prst="rect">
            <a:avLst/>
          </a:prstGeom>
          <a:noFill/>
          <a:ln/>
        </p:spPr>
        <p:txBody>
          <a:bodyPr wrap="square" rtlCol="0" anchor="ctr"/>
          <a:lstStyle/>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Priority Initiatives</a:t>
            </a:r>
            <a:endParaRPr lang="en-US" sz="1250" dirty="0"/>
          </a:p>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Identified</a:t>
            </a:r>
            <a:endParaRPr lang="en-US" sz="1250" dirty="0"/>
          </a:p>
        </p:txBody>
      </p:sp>
      <p:sp>
        <p:nvSpPr>
          <p:cNvPr id="11" name="Shape 9"/>
          <p:cNvSpPr/>
          <p:nvPr/>
        </p:nvSpPr>
        <p:spPr>
          <a:xfrm>
            <a:off x="6309360" y="2743200"/>
            <a:ext cx="2514600" cy="2148840"/>
          </a:xfrm>
          <a:prstGeom prst="roundRect">
            <a:avLst>
              <a:gd name="adj" fmla="val 3404"/>
            </a:avLst>
          </a:prstGeom>
          <a:solidFill>
            <a:srgbClr val="F7F3ED"/>
          </a:solidFill>
          <a:ln w="9525">
            <a:solidFill>
              <a:srgbClr val="CBD5E0"/>
            </a:solidFill>
            <a:prstDash val="solid"/>
          </a:ln>
        </p:spPr>
        <p:txBody>
          <a:bodyPr/>
          <a:lstStyle/>
          <a:p>
            <a:endParaRPr lang="en-001"/>
          </a:p>
        </p:txBody>
      </p:sp>
      <p:sp>
        <p:nvSpPr>
          <p:cNvPr id="12" name="Text 10"/>
          <p:cNvSpPr/>
          <p:nvPr/>
        </p:nvSpPr>
        <p:spPr>
          <a:xfrm>
            <a:off x="6309360" y="3063240"/>
            <a:ext cx="2514600" cy="914400"/>
          </a:xfrm>
          <a:prstGeom prst="rect">
            <a:avLst/>
          </a:prstGeom>
          <a:noFill/>
          <a:ln/>
        </p:spPr>
        <p:txBody>
          <a:bodyPr wrap="square" rtlCol="0" anchor="ctr"/>
          <a:lstStyle/>
          <a:p>
            <a:pPr marL="0" indent="0" algn="ctr">
              <a:buNone/>
            </a:pPr>
            <a:r>
              <a:rPr lang="en-US" sz="3400" b="1" dirty="0">
                <a:solidFill>
                  <a:srgbClr val="C07A2D"/>
                </a:solidFill>
                <a:latin typeface="Bookman Old Style" pitchFamily="34" charset="0"/>
                <a:ea typeface="Bookman Old Style" pitchFamily="34" charset="-122"/>
                <a:cs typeface="Bookman Old Style" pitchFamily="34" charset="-120"/>
              </a:rPr>
              <a:t>$497K</a:t>
            </a:r>
            <a:endParaRPr lang="en-US" sz="3400" dirty="0"/>
          </a:p>
        </p:txBody>
      </p:sp>
      <p:sp>
        <p:nvSpPr>
          <p:cNvPr id="13" name="Text 11"/>
          <p:cNvSpPr/>
          <p:nvPr/>
        </p:nvSpPr>
        <p:spPr>
          <a:xfrm>
            <a:off x="6446520" y="4069080"/>
            <a:ext cx="2240280" cy="685800"/>
          </a:xfrm>
          <a:prstGeom prst="rect">
            <a:avLst/>
          </a:prstGeom>
          <a:noFill/>
          <a:ln/>
        </p:spPr>
        <p:txBody>
          <a:bodyPr wrap="square" rtlCol="0" anchor="ctr"/>
          <a:lstStyle/>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Total Programme</a:t>
            </a:r>
            <a:endParaRPr lang="en-US" sz="1250" dirty="0"/>
          </a:p>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Investment</a:t>
            </a:r>
            <a:endParaRPr lang="en-US" sz="1250" dirty="0"/>
          </a:p>
        </p:txBody>
      </p:sp>
      <p:sp>
        <p:nvSpPr>
          <p:cNvPr id="14" name="Shape 12"/>
          <p:cNvSpPr/>
          <p:nvPr/>
        </p:nvSpPr>
        <p:spPr>
          <a:xfrm>
            <a:off x="9144000" y="2743200"/>
            <a:ext cx="2514600" cy="2148840"/>
          </a:xfrm>
          <a:prstGeom prst="roundRect">
            <a:avLst>
              <a:gd name="adj" fmla="val 3404"/>
            </a:avLst>
          </a:prstGeom>
          <a:solidFill>
            <a:srgbClr val="F7F3ED"/>
          </a:solidFill>
          <a:ln w="9525">
            <a:solidFill>
              <a:srgbClr val="CBD5E0"/>
            </a:solidFill>
            <a:prstDash val="solid"/>
          </a:ln>
        </p:spPr>
        <p:txBody>
          <a:bodyPr/>
          <a:lstStyle/>
          <a:p>
            <a:endParaRPr lang="en-001"/>
          </a:p>
        </p:txBody>
      </p:sp>
      <p:sp>
        <p:nvSpPr>
          <p:cNvPr id="15" name="Text 13"/>
          <p:cNvSpPr/>
          <p:nvPr/>
        </p:nvSpPr>
        <p:spPr>
          <a:xfrm>
            <a:off x="9144000" y="3063240"/>
            <a:ext cx="2514600" cy="914400"/>
          </a:xfrm>
          <a:prstGeom prst="rect">
            <a:avLst/>
          </a:prstGeom>
          <a:noFill/>
          <a:ln/>
        </p:spPr>
        <p:txBody>
          <a:bodyPr wrap="square" rtlCol="0" anchor="ctr"/>
          <a:lstStyle/>
          <a:p>
            <a:pPr marL="0" indent="0" algn="ctr">
              <a:buNone/>
            </a:pPr>
            <a:r>
              <a:rPr lang="en-US" sz="3400" b="1" dirty="0">
                <a:solidFill>
                  <a:srgbClr val="C07A2D"/>
                </a:solidFill>
                <a:latin typeface="Bookman Old Style" pitchFamily="34" charset="0"/>
                <a:ea typeface="Bookman Old Style" pitchFamily="34" charset="-122"/>
                <a:cs typeface="Bookman Old Style" pitchFamily="34" charset="-120"/>
              </a:rPr>
              <a:t>12</a:t>
            </a:r>
            <a:endParaRPr lang="en-US" sz="3400" dirty="0"/>
          </a:p>
        </p:txBody>
      </p:sp>
      <p:sp>
        <p:nvSpPr>
          <p:cNvPr id="16" name="Text 14"/>
          <p:cNvSpPr/>
          <p:nvPr/>
        </p:nvSpPr>
        <p:spPr>
          <a:xfrm>
            <a:off x="9281160" y="4069080"/>
            <a:ext cx="2240280" cy="685800"/>
          </a:xfrm>
          <a:prstGeom prst="rect">
            <a:avLst/>
          </a:prstGeom>
          <a:noFill/>
          <a:ln/>
        </p:spPr>
        <p:txBody>
          <a:bodyPr wrap="square" rtlCol="0" anchor="ctr"/>
          <a:lstStyle/>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Months to Full</a:t>
            </a:r>
            <a:endParaRPr lang="en-US" sz="1250" dirty="0"/>
          </a:p>
          <a:p>
            <a:pPr marL="0" indent="0" algn="ctr">
              <a:lnSpc>
                <a:spcPct val="110000"/>
              </a:lnSpc>
              <a:buNone/>
            </a:pPr>
            <a:r>
              <a:rPr lang="en-US" sz="1250" dirty="0">
                <a:solidFill>
                  <a:srgbClr val="2D3748"/>
                </a:solidFill>
                <a:latin typeface="Calibri" pitchFamily="34" charset="0"/>
                <a:ea typeface="Calibri" pitchFamily="34" charset="-122"/>
                <a:cs typeface="Calibri" pitchFamily="34" charset="-120"/>
              </a:rPr>
              <a:t>Execution</a:t>
            </a:r>
            <a:endParaRPr lang="en-US" sz="1250" dirty="0"/>
          </a:p>
        </p:txBody>
      </p:sp>
      <p:sp>
        <p:nvSpPr>
          <p:cNvPr id="17" name="Text 15"/>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18" name="Text 16"/>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CURRENT STATE ASSESSMENT</a:t>
            </a:r>
            <a:endParaRPr lang="en-US" sz="1100" dirty="0"/>
          </a:p>
        </p:txBody>
      </p:sp>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Digital Maturity by Dimension</a:t>
            </a:r>
            <a:endParaRPr lang="en-US" sz="2800" dirty="0"/>
          </a:p>
        </p:txBody>
      </p:sp>
      <p:sp>
        <p:nvSpPr>
          <p:cNvPr id="4" name="Text 2"/>
          <p:cNvSpPr/>
          <p:nvPr/>
        </p:nvSpPr>
        <p:spPr>
          <a:xfrm>
            <a:off x="640080" y="1325880"/>
            <a:ext cx="10058400" cy="365760"/>
          </a:xfrm>
          <a:prstGeom prst="rect">
            <a:avLst/>
          </a:prstGeom>
          <a:noFill/>
          <a:ln/>
        </p:spPr>
        <p:txBody>
          <a:bodyPr wrap="square" rtlCol="0" anchor="ctr"/>
          <a:lstStyle/>
          <a:p>
            <a:pPr marL="0" indent="0">
              <a:buNone/>
            </a:pPr>
            <a:r>
              <a:rPr lang="en-US" sz="1250" i="1" dirty="0">
                <a:solidFill>
                  <a:srgbClr val="64748B"/>
                </a:solidFill>
                <a:latin typeface="Calibri" pitchFamily="34" charset="0"/>
                <a:ea typeface="Calibri" pitchFamily="34" charset="-122"/>
                <a:cs typeface="Calibri" pitchFamily="34" charset="-120"/>
              </a:rPr>
              <a:t>Each dimension scored 1–5 across 4 statements, for a maximum of 20 per dimension.</a:t>
            </a:r>
            <a:endParaRPr lang="en-US" sz="1250" dirty="0"/>
          </a:p>
        </p:txBody>
      </p:sp>
      <p:graphicFrame>
        <p:nvGraphicFramePr>
          <p:cNvPr id="5" name="Chart 0"/>
          <p:cNvGraphicFramePr/>
          <p:nvPr/>
        </p:nvGraphicFramePr>
        <p:xfrm>
          <a:off x="640080" y="1828800"/>
          <a:ext cx="108813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7" name="Text 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BASELINE</a:t>
            </a:r>
            <a:endParaRPr lang="en-US" sz="1100" dirty="0"/>
          </a:p>
        </p:txBody>
      </p:sp>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3000" b="1" dirty="0">
                <a:solidFill>
                  <a:srgbClr val="0D1B2A"/>
                </a:solidFill>
                <a:latin typeface="Bookman Old Style" pitchFamily="34" charset="0"/>
                <a:ea typeface="Bookman Old Style" pitchFamily="34" charset="-122"/>
                <a:cs typeface="Bookman Old Style" pitchFamily="34" charset="-120"/>
              </a:rPr>
              <a:t>Where We're Starting From</a:t>
            </a:r>
            <a:endParaRPr lang="en-US" sz="3000" dirty="0"/>
          </a:p>
        </p:txBody>
      </p:sp>
      <p:sp>
        <p:nvSpPr>
          <p:cNvPr id="4" name="Shape 2"/>
          <p:cNvSpPr/>
          <p:nvPr/>
        </p:nvSpPr>
        <p:spPr>
          <a:xfrm>
            <a:off x="640080" y="1737360"/>
            <a:ext cx="4206240" cy="4114800"/>
          </a:xfrm>
          <a:prstGeom prst="roundRect">
            <a:avLst>
              <a:gd name="adj" fmla="val 2222"/>
            </a:avLst>
          </a:prstGeom>
          <a:solidFill>
            <a:srgbClr val="0D1B2A"/>
          </a:solidFill>
          <a:ln/>
        </p:spPr>
        <p:txBody>
          <a:bodyPr/>
          <a:lstStyle/>
          <a:p>
            <a:endParaRPr lang="en-001"/>
          </a:p>
        </p:txBody>
      </p:sp>
      <p:sp>
        <p:nvSpPr>
          <p:cNvPr id="5" name="Text 3"/>
          <p:cNvSpPr/>
          <p:nvPr/>
        </p:nvSpPr>
        <p:spPr>
          <a:xfrm>
            <a:off x="640080" y="2148840"/>
            <a:ext cx="4206240" cy="1463040"/>
          </a:xfrm>
          <a:prstGeom prst="rect">
            <a:avLst/>
          </a:prstGeom>
          <a:noFill/>
          <a:ln/>
        </p:spPr>
        <p:txBody>
          <a:bodyPr wrap="square" rtlCol="0" anchor="ctr"/>
          <a:lstStyle/>
          <a:p>
            <a:pPr marL="0" indent="0" algn="ctr">
              <a:buNone/>
            </a:pPr>
            <a:r>
              <a:rPr lang="en-US" sz="8000" b="1" dirty="0">
                <a:solidFill>
                  <a:srgbClr val="C07A2D"/>
                </a:solidFill>
                <a:latin typeface="Bookman Old Style" pitchFamily="34" charset="0"/>
                <a:ea typeface="Bookman Old Style" pitchFamily="34" charset="-122"/>
                <a:cs typeface="Bookman Old Style" pitchFamily="34" charset="-120"/>
              </a:rPr>
              <a:t>60</a:t>
            </a:r>
            <a:endParaRPr lang="en-US" sz="8000" dirty="0"/>
          </a:p>
        </p:txBody>
      </p:sp>
      <p:sp>
        <p:nvSpPr>
          <p:cNvPr id="6" name="Text 4"/>
          <p:cNvSpPr/>
          <p:nvPr/>
        </p:nvSpPr>
        <p:spPr>
          <a:xfrm>
            <a:off x="640080" y="3520440"/>
            <a:ext cx="4206240" cy="365760"/>
          </a:xfrm>
          <a:prstGeom prst="rect">
            <a:avLst/>
          </a:prstGeom>
          <a:noFill/>
          <a:ln/>
        </p:spPr>
        <p:txBody>
          <a:bodyPr wrap="square" rtlCol="0" anchor="ctr"/>
          <a:lstStyle/>
          <a:p>
            <a:pPr marL="0" indent="0" algn="ctr">
              <a:buNone/>
            </a:pPr>
            <a:r>
              <a:rPr lang="en-US" sz="1400" dirty="0">
                <a:solidFill>
                  <a:srgbClr val="C7CDD6"/>
                </a:solidFill>
                <a:latin typeface="Calibri" pitchFamily="34" charset="0"/>
                <a:ea typeface="Calibri" pitchFamily="34" charset="-122"/>
                <a:cs typeface="Calibri" pitchFamily="34" charset="-120"/>
              </a:rPr>
              <a:t>out of 100</a:t>
            </a:r>
            <a:endParaRPr lang="en-US" sz="1400" dirty="0"/>
          </a:p>
        </p:txBody>
      </p:sp>
      <p:sp>
        <p:nvSpPr>
          <p:cNvPr id="7" name="Text 5"/>
          <p:cNvSpPr/>
          <p:nvPr/>
        </p:nvSpPr>
        <p:spPr>
          <a:xfrm>
            <a:off x="640080" y="4114800"/>
            <a:ext cx="4206240" cy="457200"/>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DEVELOPING</a:t>
            </a:r>
            <a:endParaRPr lang="en-US" sz="2000" dirty="0"/>
          </a:p>
        </p:txBody>
      </p:sp>
      <p:sp>
        <p:nvSpPr>
          <p:cNvPr id="8" name="Text 6"/>
          <p:cNvSpPr/>
          <p:nvPr/>
        </p:nvSpPr>
        <p:spPr>
          <a:xfrm>
            <a:off x="822960" y="4709160"/>
            <a:ext cx="3840480" cy="822960"/>
          </a:xfrm>
          <a:prstGeom prst="rect">
            <a:avLst/>
          </a:prstGeom>
          <a:noFill/>
          <a:ln/>
        </p:spPr>
        <p:txBody>
          <a:bodyPr wrap="square" rtlCol="0" anchor="ctr"/>
          <a:lstStyle/>
          <a:p>
            <a:pPr marL="0" indent="0" algn="ctr">
              <a:lnSpc>
                <a:spcPct val="120000"/>
              </a:lnSpc>
              <a:buNone/>
            </a:pPr>
            <a:r>
              <a:rPr lang="en-US" sz="1300" i="1" dirty="0">
                <a:solidFill>
                  <a:srgbClr val="C7CDD6"/>
                </a:solidFill>
                <a:latin typeface="Calibri" pitchFamily="34" charset="0"/>
                <a:ea typeface="Calibri" pitchFamily="34" charset="-122"/>
                <a:cs typeface="Calibri" pitchFamily="34" charset="-120"/>
              </a:rPr>
              <a:t>Solid foundations,</a:t>
            </a:r>
            <a:endParaRPr lang="en-US" sz="1300" dirty="0"/>
          </a:p>
          <a:p>
            <a:pPr marL="0" indent="0" algn="ctr">
              <a:lnSpc>
                <a:spcPct val="120000"/>
              </a:lnSpc>
              <a:buNone/>
            </a:pPr>
            <a:r>
              <a:rPr lang="en-US" sz="1300" i="1" dirty="0">
                <a:solidFill>
                  <a:srgbClr val="C7CDD6"/>
                </a:solidFill>
                <a:latin typeface="Calibri" pitchFamily="34" charset="0"/>
                <a:ea typeface="Calibri" pitchFamily="34" charset="-122"/>
                <a:cs typeface="Calibri" pitchFamily="34" charset="-120"/>
              </a:rPr>
              <a:t>clear gaps to close</a:t>
            </a:r>
            <a:endParaRPr lang="en-US" sz="1300" dirty="0"/>
          </a:p>
        </p:txBody>
      </p:sp>
      <p:sp>
        <p:nvSpPr>
          <p:cNvPr id="9" name="Shape 7"/>
          <p:cNvSpPr/>
          <p:nvPr/>
        </p:nvSpPr>
        <p:spPr>
          <a:xfrm>
            <a:off x="5166360" y="1828800"/>
            <a:ext cx="6400800" cy="868680"/>
          </a:xfrm>
          <a:prstGeom prst="roundRect">
            <a:avLst>
              <a:gd name="adj" fmla="val 6316"/>
            </a:avLst>
          </a:prstGeom>
          <a:solidFill>
            <a:srgbClr val="FFFFFF"/>
          </a:solidFill>
          <a:ln w="12700">
            <a:solidFill>
              <a:srgbClr val="CBD5E0"/>
            </a:solidFill>
            <a:prstDash val="solid"/>
          </a:ln>
        </p:spPr>
        <p:txBody>
          <a:bodyPr/>
          <a:lstStyle/>
          <a:p>
            <a:endParaRPr lang="en-001"/>
          </a:p>
        </p:txBody>
      </p:sp>
      <p:sp>
        <p:nvSpPr>
          <p:cNvPr id="10" name="Text 8"/>
          <p:cNvSpPr/>
          <p:nvPr/>
        </p:nvSpPr>
        <p:spPr>
          <a:xfrm>
            <a:off x="5440680" y="1828800"/>
            <a:ext cx="3200400" cy="868680"/>
          </a:xfrm>
          <a:prstGeom prst="rect">
            <a:avLst/>
          </a:prstGeom>
          <a:noFill/>
          <a:ln/>
        </p:spPr>
        <p:txBody>
          <a:bodyPr wrap="square" rtlCol="0" anchor="ctr"/>
          <a:lstStyle/>
          <a:p>
            <a:pPr marL="0" indent="0">
              <a:buNone/>
            </a:pPr>
            <a:r>
              <a:rPr lang="en-US" sz="1600" b="1" dirty="0">
                <a:solidFill>
                  <a:srgbClr val="2D3748"/>
                </a:solidFill>
                <a:latin typeface="Calibri" pitchFamily="34" charset="0"/>
                <a:ea typeface="Calibri" pitchFamily="34" charset="-122"/>
                <a:cs typeface="Calibri" pitchFamily="34" charset="-120"/>
              </a:rPr>
              <a:t>Foundational</a:t>
            </a:r>
            <a:endParaRPr lang="en-US" sz="1600" dirty="0"/>
          </a:p>
        </p:txBody>
      </p:sp>
      <p:sp>
        <p:nvSpPr>
          <p:cNvPr id="11" name="Text 9"/>
          <p:cNvSpPr/>
          <p:nvPr/>
        </p:nvSpPr>
        <p:spPr>
          <a:xfrm>
            <a:off x="9601200" y="1828800"/>
            <a:ext cx="1737360" cy="868680"/>
          </a:xfrm>
          <a:prstGeom prst="rect">
            <a:avLst/>
          </a:prstGeom>
          <a:noFill/>
          <a:ln/>
        </p:spPr>
        <p:txBody>
          <a:bodyPr wrap="square" rtlCol="0" anchor="ctr"/>
          <a:lstStyle/>
          <a:p>
            <a:pPr marL="0" indent="0" algn="r">
              <a:buNone/>
            </a:pPr>
            <a:r>
              <a:rPr lang="en-US" sz="1300" dirty="0">
                <a:solidFill>
                  <a:srgbClr val="64748B"/>
                </a:solidFill>
                <a:latin typeface="Calibri" pitchFamily="34" charset="0"/>
                <a:ea typeface="Calibri" pitchFamily="34" charset="-122"/>
                <a:cs typeface="Calibri" pitchFamily="34" charset="-120"/>
              </a:rPr>
              <a:t>0–39</a:t>
            </a:r>
            <a:endParaRPr lang="en-US" sz="1300" dirty="0"/>
          </a:p>
        </p:txBody>
      </p:sp>
      <p:sp>
        <p:nvSpPr>
          <p:cNvPr id="12" name="Shape 10"/>
          <p:cNvSpPr/>
          <p:nvPr/>
        </p:nvSpPr>
        <p:spPr>
          <a:xfrm>
            <a:off x="5166360" y="2880360"/>
            <a:ext cx="6400800" cy="868680"/>
          </a:xfrm>
          <a:prstGeom prst="roundRect">
            <a:avLst>
              <a:gd name="adj" fmla="val 6316"/>
            </a:avLst>
          </a:prstGeom>
          <a:solidFill>
            <a:srgbClr val="FFFFFF"/>
          </a:solidFill>
          <a:ln w="12700">
            <a:solidFill>
              <a:srgbClr val="CBD5E0"/>
            </a:solidFill>
            <a:prstDash val="solid"/>
          </a:ln>
        </p:spPr>
        <p:txBody>
          <a:bodyPr/>
          <a:lstStyle/>
          <a:p>
            <a:endParaRPr lang="en-001"/>
          </a:p>
        </p:txBody>
      </p:sp>
      <p:sp>
        <p:nvSpPr>
          <p:cNvPr id="13" name="Text 11"/>
          <p:cNvSpPr/>
          <p:nvPr/>
        </p:nvSpPr>
        <p:spPr>
          <a:xfrm>
            <a:off x="5440680" y="2880360"/>
            <a:ext cx="3200400" cy="868680"/>
          </a:xfrm>
          <a:prstGeom prst="rect">
            <a:avLst/>
          </a:prstGeom>
          <a:noFill/>
          <a:ln/>
        </p:spPr>
        <p:txBody>
          <a:bodyPr wrap="square" rtlCol="0" anchor="ctr"/>
          <a:lstStyle/>
          <a:p>
            <a:pPr marL="0" indent="0">
              <a:buNone/>
            </a:pPr>
            <a:r>
              <a:rPr lang="en-US" sz="1600" b="1" dirty="0">
                <a:solidFill>
                  <a:srgbClr val="2D3748"/>
                </a:solidFill>
                <a:latin typeface="Calibri" pitchFamily="34" charset="0"/>
                <a:ea typeface="Calibri" pitchFamily="34" charset="-122"/>
                <a:cs typeface="Calibri" pitchFamily="34" charset="-120"/>
              </a:rPr>
              <a:t>Emerging</a:t>
            </a:r>
            <a:endParaRPr lang="en-US" sz="1600" dirty="0"/>
          </a:p>
        </p:txBody>
      </p:sp>
      <p:sp>
        <p:nvSpPr>
          <p:cNvPr id="14" name="Text 12"/>
          <p:cNvSpPr/>
          <p:nvPr/>
        </p:nvSpPr>
        <p:spPr>
          <a:xfrm>
            <a:off x="9601200" y="2880360"/>
            <a:ext cx="1737360" cy="868680"/>
          </a:xfrm>
          <a:prstGeom prst="rect">
            <a:avLst/>
          </a:prstGeom>
          <a:noFill/>
          <a:ln/>
        </p:spPr>
        <p:txBody>
          <a:bodyPr wrap="square" rtlCol="0" anchor="ctr"/>
          <a:lstStyle/>
          <a:p>
            <a:pPr marL="0" indent="0" algn="r">
              <a:buNone/>
            </a:pPr>
            <a:r>
              <a:rPr lang="en-US" sz="1300" dirty="0">
                <a:solidFill>
                  <a:srgbClr val="64748B"/>
                </a:solidFill>
                <a:latin typeface="Calibri" pitchFamily="34" charset="0"/>
                <a:ea typeface="Calibri" pitchFamily="34" charset="-122"/>
                <a:cs typeface="Calibri" pitchFamily="34" charset="-120"/>
              </a:rPr>
              <a:t>40–59</a:t>
            </a:r>
            <a:endParaRPr lang="en-US" sz="1300" dirty="0"/>
          </a:p>
        </p:txBody>
      </p:sp>
      <p:sp>
        <p:nvSpPr>
          <p:cNvPr id="15" name="Shape 13"/>
          <p:cNvSpPr/>
          <p:nvPr/>
        </p:nvSpPr>
        <p:spPr>
          <a:xfrm>
            <a:off x="5166360" y="3931920"/>
            <a:ext cx="6400800" cy="868680"/>
          </a:xfrm>
          <a:prstGeom prst="roundRect">
            <a:avLst>
              <a:gd name="adj" fmla="val 6316"/>
            </a:avLst>
          </a:prstGeom>
          <a:solidFill>
            <a:srgbClr val="1A3C5E"/>
          </a:solidFill>
          <a:ln w="12700">
            <a:solidFill>
              <a:srgbClr val="1A3C5E"/>
            </a:solidFill>
            <a:prstDash val="solid"/>
          </a:ln>
        </p:spPr>
        <p:txBody>
          <a:bodyPr/>
          <a:lstStyle/>
          <a:p>
            <a:endParaRPr lang="en-001"/>
          </a:p>
        </p:txBody>
      </p:sp>
      <p:sp>
        <p:nvSpPr>
          <p:cNvPr id="16" name="Text 14"/>
          <p:cNvSpPr/>
          <p:nvPr/>
        </p:nvSpPr>
        <p:spPr>
          <a:xfrm>
            <a:off x="5440680" y="3931920"/>
            <a:ext cx="3200400" cy="8686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Developing</a:t>
            </a:r>
            <a:endParaRPr lang="en-US" sz="1600" dirty="0"/>
          </a:p>
        </p:txBody>
      </p:sp>
      <p:sp>
        <p:nvSpPr>
          <p:cNvPr id="17" name="Text 15"/>
          <p:cNvSpPr/>
          <p:nvPr/>
        </p:nvSpPr>
        <p:spPr>
          <a:xfrm>
            <a:off x="9601200" y="3931920"/>
            <a:ext cx="1737360" cy="868680"/>
          </a:xfrm>
          <a:prstGeom prst="rect">
            <a:avLst/>
          </a:prstGeom>
          <a:noFill/>
          <a:ln/>
        </p:spPr>
        <p:txBody>
          <a:bodyPr wrap="square" rtlCol="0" anchor="ctr"/>
          <a:lstStyle/>
          <a:p>
            <a:pPr marL="0" indent="0" algn="r">
              <a:buNone/>
            </a:pPr>
            <a:r>
              <a:rPr lang="en-US" sz="1300" dirty="0">
                <a:solidFill>
                  <a:srgbClr val="E7ECF3"/>
                </a:solidFill>
                <a:latin typeface="Calibri" pitchFamily="34" charset="0"/>
                <a:ea typeface="Calibri" pitchFamily="34" charset="-122"/>
                <a:cs typeface="Calibri" pitchFamily="34" charset="-120"/>
              </a:rPr>
              <a:t>60–79</a:t>
            </a:r>
            <a:endParaRPr lang="en-US" sz="1300" dirty="0"/>
          </a:p>
        </p:txBody>
      </p:sp>
      <p:sp>
        <p:nvSpPr>
          <p:cNvPr id="18" name="Shape 16"/>
          <p:cNvSpPr/>
          <p:nvPr/>
        </p:nvSpPr>
        <p:spPr>
          <a:xfrm>
            <a:off x="5166360" y="4983480"/>
            <a:ext cx="6400800" cy="868680"/>
          </a:xfrm>
          <a:prstGeom prst="roundRect">
            <a:avLst>
              <a:gd name="adj" fmla="val 6316"/>
            </a:avLst>
          </a:prstGeom>
          <a:solidFill>
            <a:srgbClr val="FFFFFF"/>
          </a:solidFill>
          <a:ln w="12700">
            <a:solidFill>
              <a:srgbClr val="CBD5E0"/>
            </a:solidFill>
            <a:prstDash val="solid"/>
          </a:ln>
        </p:spPr>
        <p:txBody>
          <a:bodyPr/>
          <a:lstStyle/>
          <a:p>
            <a:endParaRPr lang="en-001"/>
          </a:p>
        </p:txBody>
      </p:sp>
      <p:sp>
        <p:nvSpPr>
          <p:cNvPr id="19" name="Text 17"/>
          <p:cNvSpPr/>
          <p:nvPr/>
        </p:nvSpPr>
        <p:spPr>
          <a:xfrm>
            <a:off x="5440680" y="4983480"/>
            <a:ext cx="3200400" cy="868680"/>
          </a:xfrm>
          <a:prstGeom prst="rect">
            <a:avLst/>
          </a:prstGeom>
          <a:noFill/>
          <a:ln/>
        </p:spPr>
        <p:txBody>
          <a:bodyPr wrap="square" rtlCol="0" anchor="ctr"/>
          <a:lstStyle/>
          <a:p>
            <a:pPr marL="0" indent="0">
              <a:buNone/>
            </a:pPr>
            <a:r>
              <a:rPr lang="en-US" sz="1600" b="1" dirty="0">
                <a:solidFill>
                  <a:srgbClr val="2D3748"/>
                </a:solidFill>
                <a:latin typeface="Calibri" pitchFamily="34" charset="0"/>
                <a:ea typeface="Calibri" pitchFamily="34" charset="-122"/>
                <a:cs typeface="Calibri" pitchFamily="34" charset="-120"/>
              </a:rPr>
              <a:t>Advanced</a:t>
            </a:r>
            <a:endParaRPr lang="en-US" sz="1600" dirty="0"/>
          </a:p>
        </p:txBody>
      </p:sp>
      <p:sp>
        <p:nvSpPr>
          <p:cNvPr id="20" name="Text 18"/>
          <p:cNvSpPr/>
          <p:nvPr/>
        </p:nvSpPr>
        <p:spPr>
          <a:xfrm>
            <a:off x="9601200" y="4983480"/>
            <a:ext cx="1737360" cy="868680"/>
          </a:xfrm>
          <a:prstGeom prst="rect">
            <a:avLst/>
          </a:prstGeom>
          <a:noFill/>
          <a:ln/>
        </p:spPr>
        <p:txBody>
          <a:bodyPr wrap="square" rtlCol="0" anchor="ctr"/>
          <a:lstStyle/>
          <a:p>
            <a:pPr marL="0" indent="0" algn="r">
              <a:buNone/>
            </a:pPr>
            <a:r>
              <a:rPr lang="en-US" sz="1300" dirty="0">
                <a:solidFill>
                  <a:srgbClr val="64748B"/>
                </a:solidFill>
                <a:latin typeface="Calibri" pitchFamily="34" charset="0"/>
                <a:ea typeface="Calibri" pitchFamily="34" charset="-122"/>
                <a:cs typeface="Calibri" pitchFamily="34" charset="-120"/>
              </a:rPr>
              <a:t>80–100</a:t>
            </a:r>
            <a:endParaRPr lang="en-US" sz="1300" dirty="0"/>
          </a:p>
        </p:txBody>
      </p:sp>
      <p:sp>
        <p:nvSpPr>
          <p:cNvPr id="21" name="Text 19"/>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22" name="Text 20"/>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PRIORITY INITIATIVE FRAMEWORK</a:t>
            </a:r>
            <a:endParaRPr lang="en-US" sz="1100" dirty="0"/>
          </a:p>
        </p:txBody>
      </p:sp>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Impact vs. Effort</a:t>
            </a:r>
            <a:endParaRPr lang="en-US" sz="2800" dirty="0"/>
          </a:p>
        </p:txBody>
      </p:sp>
      <p:sp>
        <p:nvSpPr>
          <p:cNvPr id="4" name="Shape 2"/>
          <p:cNvSpPr/>
          <p:nvPr/>
        </p:nvSpPr>
        <p:spPr>
          <a:xfrm>
            <a:off x="3566160" y="1600200"/>
            <a:ext cx="3017520" cy="2331720"/>
          </a:xfrm>
          <a:prstGeom prst="rect">
            <a:avLst/>
          </a:prstGeom>
          <a:solidFill>
            <a:srgbClr val="E9F5EE"/>
          </a:solidFill>
          <a:ln w="12700">
            <a:solidFill>
              <a:srgbClr val="FFFFFF"/>
            </a:solidFill>
            <a:prstDash val="solid"/>
          </a:ln>
        </p:spPr>
        <p:txBody>
          <a:bodyPr/>
          <a:lstStyle/>
          <a:p>
            <a:endParaRPr lang="en-001"/>
          </a:p>
        </p:txBody>
      </p:sp>
      <p:sp>
        <p:nvSpPr>
          <p:cNvPr id="5" name="Shape 3"/>
          <p:cNvSpPr/>
          <p:nvPr/>
        </p:nvSpPr>
        <p:spPr>
          <a:xfrm>
            <a:off x="6583680" y="1600200"/>
            <a:ext cx="3017520" cy="2331720"/>
          </a:xfrm>
          <a:prstGeom prst="rect">
            <a:avLst/>
          </a:prstGeom>
          <a:solidFill>
            <a:srgbClr val="E7EEF5"/>
          </a:solidFill>
          <a:ln w="12700">
            <a:solidFill>
              <a:srgbClr val="FFFFFF"/>
            </a:solidFill>
            <a:prstDash val="solid"/>
          </a:ln>
        </p:spPr>
        <p:txBody>
          <a:bodyPr/>
          <a:lstStyle/>
          <a:p>
            <a:endParaRPr lang="en-001"/>
          </a:p>
        </p:txBody>
      </p:sp>
      <p:sp>
        <p:nvSpPr>
          <p:cNvPr id="6" name="Shape 4"/>
          <p:cNvSpPr/>
          <p:nvPr/>
        </p:nvSpPr>
        <p:spPr>
          <a:xfrm>
            <a:off x="3566160" y="3931920"/>
            <a:ext cx="3017520" cy="2331720"/>
          </a:xfrm>
          <a:prstGeom prst="rect">
            <a:avLst/>
          </a:prstGeom>
          <a:solidFill>
            <a:srgbClr val="FCF3E7"/>
          </a:solidFill>
          <a:ln w="12700">
            <a:solidFill>
              <a:srgbClr val="FFFFFF"/>
            </a:solidFill>
            <a:prstDash val="solid"/>
          </a:ln>
        </p:spPr>
        <p:txBody>
          <a:bodyPr/>
          <a:lstStyle/>
          <a:p>
            <a:endParaRPr lang="en-001"/>
          </a:p>
        </p:txBody>
      </p:sp>
      <p:sp>
        <p:nvSpPr>
          <p:cNvPr id="7" name="Shape 5"/>
          <p:cNvSpPr/>
          <p:nvPr/>
        </p:nvSpPr>
        <p:spPr>
          <a:xfrm>
            <a:off x="6583680" y="3931920"/>
            <a:ext cx="3017520" cy="2331720"/>
          </a:xfrm>
          <a:prstGeom prst="rect">
            <a:avLst/>
          </a:prstGeom>
          <a:solidFill>
            <a:srgbClr val="FBEBEB"/>
          </a:solidFill>
          <a:ln w="12700">
            <a:solidFill>
              <a:srgbClr val="FFFFFF"/>
            </a:solidFill>
            <a:prstDash val="solid"/>
          </a:ln>
        </p:spPr>
        <p:txBody>
          <a:bodyPr/>
          <a:lstStyle/>
          <a:p>
            <a:endParaRPr lang="en-001"/>
          </a:p>
        </p:txBody>
      </p:sp>
      <p:sp>
        <p:nvSpPr>
          <p:cNvPr id="8" name="Shape 6"/>
          <p:cNvSpPr/>
          <p:nvPr/>
        </p:nvSpPr>
        <p:spPr>
          <a:xfrm>
            <a:off x="3566160" y="3931920"/>
            <a:ext cx="6035040" cy="0"/>
          </a:xfrm>
          <a:prstGeom prst="line">
            <a:avLst/>
          </a:prstGeom>
          <a:noFill/>
          <a:ln w="19050">
            <a:solidFill>
              <a:srgbClr val="CBD5E0"/>
            </a:solidFill>
            <a:prstDash val="solid"/>
          </a:ln>
        </p:spPr>
        <p:txBody>
          <a:bodyPr/>
          <a:lstStyle/>
          <a:p>
            <a:endParaRPr lang="en-001"/>
          </a:p>
        </p:txBody>
      </p:sp>
      <p:sp>
        <p:nvSpPr>
          <p:cNvPr id="9" name="Shape 7"/>
          <p:cNvSpPr/>
          <p:nvPr/>
        </p:nvSpPr>
        <p:spPr>
          <a:xfrm>
            <a:off x="6583680" y="1600200"/>
            <a:ext cx="0" cy="4663440"/>
          </a:xfrm>
          <a:prstGeom prst="line">
            <a:avLst/>
          </a:prstGeom>
          <a:noFill/>
          <a:ln w="19050">
            <a:solidFill>
              <a:srgbClr val="CBD5E0"/>
            </a:solidFill>
            <a:prstDash val="solid"/>
          </a:ln>
        </p:spPr>
        <p:txBody>
          <a:bodyPr/>
          <a:lstStyle/>
          <a:p>
            <a:endParaRPr lang="en-001"/>
          </a:p>
        </p:txBody>
      </p:sp>
      <p:sp>
        <p:nvSpPr>
          <p:cNvPr id="10" name="Text 8"/>
          <p:cNvSpPr/>
          <p:nvPr/>
        </p:nvSpPr>
        <p:spPr>
          <a:xfrm>
            <a:off x="3566160" y="6309360"/>
            <a:ext cx="6035040" cy="274320"/>
          </a:xfrm>
          <a:prstGeom prst="rect">
            <a:avLst/>
          </a:prstGeom>
          <a:noFill/>
          <a:ln/>
        </p:spPr>
        <p:txBody>
          <a:bodyPr wrap="square" rtlCol="0" anchor="ctr"/>
          <a:lstStyle/>
          <a:p>
            <a:pPr marL="0" indent="0" algn="ctr">
              <a:buNone/>
            </a:pPr>
            <a:r>
              <a:rPr lang="en-US" sz="1100" b="1" kern="0" spc="100" dirty="0">
                <a:solidFill>
                  <a:srgbClr val="64748B"/>
                </a:solidFill>
                <a:latin typeface="Calibri" pitchFamily="34" charset="0"/>
                <a:ea typeface="Calibri" pitchFamily="34" charset="-122"/>
                <a:cs typeface="Calibri" pitchFamily="34" charset="-120"/>
              </a:rPr>
              <a:t>EFFORT →</a:t>
            </a:r>
            <a:endParaRPr lang="en-US" sz="1100" dirty="0"/>
          </a:p>
        </p:txBody>
      </p:sp>
      <p:sp>
        <p:nvSpPr>
          <p:cNvPr id="11" name="Text 9"/>
          <p:cNvSpPr/>
          <p:nvPr/>
        </p:nvSpPr>
        <p:spPr>
          <a:xfrm rot="16200000">
            <a:off x="1828800" y="3794760"/>
            <a:ext cx="1645920" cy="274320"/>
          </a:xfrm>
          <a:prstGeom prst="rect">
            <a:avLst/>
          </a:prstGeom>
          <a:noFill/>
          <a:ln/>
        </p:spPr>
        <p:txBody>
          <a:bodyPr wrap="square" rtlCol="0" anchor="ctr"/>
          <a:lstStyle/>
          <a:p>
            <a:pPr marL="0" indent="0" algn="ctr">
              <a:buNone/>
            </a:pPr>
            <a:r>
              <a:rPr lang="en-US" sz="1100" b="1" kern="0" spc="100" dirty="0">
                <a:solidFill>
                  <a:srgbClr val="64748B"/>
                </a:solidFill>
                <a:latin typeface="Calibri" pitchFamily="34" charset="0"/>
                <a:ea typeface="Calibri" pitchFamily="34" charset="-122"/>
                <a:cs typeface="Calibri" pitchFamily="34" charset="-120"/>
              </a:rPr>
              <a:t>IMPACT →</a:t>
            </a:r>
            <a:endParaRPr lang="en-US" sz="1100" dirty="0"/>
          </a:p>
        </p:txBody>
      </p:sp>
      <p:sp>
        <p:nvSpPr>
          <p:cNvPr id="12" name="Text 10"/>
          <p:cNvSpPr/>
          <p:nvPr/>
        </p:nvSpPr>
        <p:spPr>
          <a:xfrm>
            <a:off x="3657600" y="1673352"/>
            <a:ext cx="2834640" cy="274320"/>
          </a:xfrm>
          <a:prstGeom prst="rect">
            <a:avLst/>
          </a:prstGeom>
          <a:noFill/>
          <a:ln/>
        </p:spPr>
        <p:txBody>
          <a:bodyPr wrap="square" rtlCol="0" anchor="ctr"/>
          <a:lstStyle/>
          <a:p>
            <a:pPr marL="0" indent="0">
              <a:buNone/>
            </a:pPr>
            <a:r>
              <a:rPr lang="en-US" sz="1050" b="1" dirty="0">
                <a:solidFill>
                  <a:srgbClr val="1E6B4A"/>
                </a:solidFill>
                <a:latin typeface="Calibri" pitchFamily="34" charset="0"/>
                <a:ea typeface="Calibri" pitchFamily="34" charset="-122"/>
                <a:cs typeface="Calibri" pitchFamily="34" charset="-120"/>
              </a:rPr>
              <a:t>QUICK WIN</a:t>
            </a:r>
            <a:endParaRPr lang="en-US" sz="1050" dirty="0"/>
          </a:p>
        </p:txBody>
      </p:sp>
      <p:sp>
        <p:nvSpPr>
          <p:cNvPr id="13" name="Text 11"/>
          <p:cNvSpPr/>
          <p:nvPr/>
        </p:nvSpPr>
        <p:spPr>
          <a:xfrm>
            <a:off x="6675120" y="1673352"/>
            <a:ext cx="2834640" cy="274320"/>
          </a:xfrm>
          <a:prstGeom prst="rect">
            <a:avLst/>
          </a:prstGeom>
          <a:noFill/>
          <a:ln/>
        </p:spPr>
        <p:txBody>
          <a:bodyPr wrap="square" rtlCol="0" anchor="ctr"/>
          <a:lstStyle/>
          <a:p>
            <a:pPr marL="0" indent="0">
              <a:buNone/>
            </a:pPr>
            <a:r>
              <a:rPr lang="en-US" sz="1050" b="1" dirty="0">
                <a:solidFill>
                  <a:srgbClr val="1A3C5E"/>
                </a:solidFill>
                <a:latin typeface="Calibri" pitchFamily="34" charset="0"/>
                <a:ea typeface="Calibri" pitchFamily="34" charset="-122"/>
                <a:cs typeface="Calibri" pitchFamily="34" charset="-120"/>
              </a:rPr>
              <a:t>MAJOR PROJECT</a:t>
            </a:r>
            <a:endParaRPr lang="en-US" sz="1050" dirty="0"/>
          </a:p>
        </p:txBody>
      </p:sp>
      <p:sp>
        <p:nvSpPr>
          <p:cNvPr id="14" name="Text 12"/>
          <p:cNvSpPr/>
          <p:nvPr/>
        </p:nvSpPr>
        <p:spPr>
          <a:xfrm>
            <a:off x="3657600" y="5971032"/>
            <a:ext cx="2834640" cy="274320"/>
          </a:xfrm>
          <a:prstGeom prst="rect">
            <a:avLst/>
          </a:prstGeom>
          <a:noFill/>
          <a:ln/>
        </p:spPr>
        <p:txBody>
          <a:bodyPr wrap="square" rtlCol="0" anchor="ctr"/>
          <a:lstStyle/>
          <a:p>
            <a:pPr marL="0" indent="0">
              <a:buNone/>
            </a:pPr>
            <a:r>
              <a:rPr lang="en-US" sz="1050" b="1" dirty="0">
                <a:solidFill>
                  <a:srgbClr val="C07A2D"/>
                </a:solidFill>
                <a:latin typeface="Calibri" pitchFamily="34" charset="0"/>
                <a:ea typeface="Calibri" pitchFamily="34" charset="-122"/>
                <a:cs typeface="Calibri" pitchFamily="34" charset="-120"/>
              </a:rPr>
              <a:t>FILL-IN</a:t>
            </a:r>
            <a:endParaRPr lang="en-US" sz="1050" dirty="0"/>
          </a:p>
        </p:txBody>
      </p:sp>
      <p:sp>
        <p:nvSpPr>
          <p:cNvPr id="15" name="Text 13"/>
          <p:cNvSpPr/>
          <p:nvPr/>
        </p:nvSpPr>
        <p:spPr>
          <a:xfrm>
            <a:off x="6675120" y="5971032"/>
            <a:ext cx="2834640" cy="274320"/>
          </a:xfrm>
          <a:prstGeom prst="rect">
            <a:avLst/>
          </a:prstGeom>
          <a:noFill/>
          <a:ln/>
        </p:spPr>
        <p:txBody>
          <a:bodyPr wrap="square" rtlCol="0" anchor="ctr"/>
          <a:lstStyle/>
          <a:p>
            <a:pPr marL="0" indent="0">
              <a:buNone/>
            </a:pPr>
            <a:r>
              <a:rPr lang="en-US" sz="1050" b="1" dirty="0">
                <a:solidFill>
                  <a:srgbClr val="991B1B"/>
                </a:solidFill>
                <a:latin typeface="Calibri" pitchFamily="34" charset="0"/>
                <a:ea typeface="Calibri" pitchFamily="34" charset="-122"/>
                <a:cs typeface="Calibri" pitchFamily="34" charset="-120"/>
              </a:rPr>
              <a:t>DEPRIORITISE</a:t>
            </a:r>
            <a:endParaRPr lang="en-US" sz="1050" dirty="0"/>
          </a:p>
        </p:txBody>
      </p:sp>
      <p:sp>
        <p:nvSpPr>
          <p:cNvPr id="16" name="Shape 14"/>
          <p:cNvSpPr/>
          <p:nvPr/>
        </p:nvSpPr>
        <p:spPr>
          <a:xfrm>
            <a:off x="5276088" y="2898648"/>
            <a:ext cx="201168" cy="201168"/>
          </a:xfrm>
          <a:prstGeom prst="ellipse">
            <a:avLst/>
          </a:prstGeom>
          <a:solidFill>
            <a:srgbClr val="1E6B4A"/>
          </a:solidFill>
          <a:ln w="12700">
            <a:solidFill>
              <a:srgbClr val="FFFFFF"/>
            </a:solidFill>
            <a:prstDash val="solid"/>
          </a:ln>
        </p:spPr>
        <p:txBody>
          <a:bodyPr/>
          <a:lstStyle/>
          <a:p>
            <a:endParaRPr lang="en-001"/>
          </a:p>
        </p:txBody>
      </p:sp>
      <p:sp>
        <p:nvSpPr>
          <p:cNvPr id="17" name="Shape 15"/>
          <p:cNvSpPr/>
          <p:nvPr/>
        </p:nvSpPr>
        <p:spPr>
          <a:xfrm>
            <a:off x="6483096" y="2898648"/>
            <a:ext cx="201168" cy="201168"/>
          </a:xfrm>
          <a:prstGeom prst="ellipse">
            <a:avLst/>
          </a:prstGeom>
          <a:solidFill>
            <a:srgbClr val="1A3C5E"/>
          </a:solidFill>
          <a:ln w="12700">
            <a:solidFill>
              <a:srgbClr val="FFFFFF"/>
            </a:solidFill>
            <a:prstDash val="solid"/>
          </a:ln>
        </p:spPr>
        <p:txBody>
          <a:bodyPr/>
          <a:lstStyle/>
          <a:p>
            <a:endParaRPr lang="en-001"/>
          </a:p>
        </p:txBody>
      </p:sp>
      <p:sp>
        <p:nvSpPr>
          <p:cNvPr id="18" name="Shape 16"/>
          <p:cNvSpPr/>
          <p:nvPr/>
        </p:nvSpPr>
        <p:spPr>
          <a:xfrm>
            <a:off x="5276088" y="3831336"/>
            <a:ext cx="201168" cy="201168"/>
          </a:xfrm>
          <a:prstGeom prst="ellipse">
            <a:avLst/>
          </a:prstGeom>
          <a:solidFill>
            <a:srgbClr val="C07A2D"/>
          </a:solidFill>
          <a:ln w="12700">
            <a:solidFill>
              <a:srgbClr val="FFFFFF"/>
            </a:solidFill>
            <a:prstDash val="solid"/>
          </a:ln>
        </p:spPr>
        <p:txBody>
          <a:bodyPr/>
          <a:lstStyle/>
          <a:p>
            <a:endParaRPr lang="en-001"/>
          </a:p>
        </p:txBody>
      </p:sp>
      <p:sp>
        <p:nvSpPr>
          <p:cNvPr id="19" name="Shape 17"/>
          <p:cNvSpPr/>
          <p:nvPr/>
        </p:nvSpPr>
        <p:spPr>
          <a:xfrm>
            <a:off x="5276088" y="2898648"/>
            <a:ext cx="201168" cy="201168"/>
          </a:xfrm>
          <a:prstGeom prst="ellipse">
            <a:avLst/>
          </a:prstGeom>
          <a:solidFill>
            <a:srgbClr val="1E6B4A"/>
          </a:solidFill>
          <a:ln w="12700">
            <a:solidFill>
              <a:srgbClr val="FFFFFF"/>
            </a:solidFill>
            <a:prstDash val="solid"/>
          </a:ln>
        </p:spPr>
        <p:txBody>
          <a:bodyPr/>
          <a:lstStyle/>
          <a:p>
            <a:endParaRPr lang="en-001"/>
          </a:p>
        </p:txBody>
      </p:sp>
      <p:sp>
        <p:nvSpPr>
          <p:cNvPr id="20" name="Shape 18"/>
          <p:cNvSpPr/>
          <p:nvPr/>
        </p:nvSpPr>
        <p:spPr>
          <a:xfrm>
            <a:off x="7690104" y="1965960"/>
            <a:ext cx="201168" cy="201168"/>
          </a:xfrm>
          <a:prstGeom prst="ellipse">
            <a:avLst/>
          </a:prstGeom>
          <a:solidFill>
            <a:srgbClr val="1A3C5E"/>
          </a:solidFill>
          <a:ln w="12700">
            <a:solidFill>
              <a:srgbClr val="FFFFFF"/>
            </a:solidFill>
            <a:prstDash val="solid"/>
          </a:ln>
        </p:spPr>
        <p:txBody>
          <a:bodyPr/>
          <a:lstStyle/>
          <a:p>
            <a:endParaRPr lang="en-001"/>
          </a:p>
        </p:txBody>
      </p:sp>
      <p:sp>
        <p:nvSpPr>
          <p:cNvPr id="21" name="Shape 19"/>
          <p:cNvSpPr/>
          <p:nvPr/>
        </p:nvSpPr>
        <p:spPr>
          <a:xfrm>
            <a:off x="6483096" y="2898648"/>
            <a:ext cx="201168" cy="201168"/>
          </a:xfrm>
          <a:prstGeom prst="ellipse">
            <a:avLst/>
          </a:prstGeom>
          <a:solidFill>
            <a:srgbClr val="1A3C5E"/>
          </a:solidFill>
          <a:ln w="12700">
            <a:solidFill>
              <a:srgbClr val="FFFFFF"/>
            </a:solidFill>
            <a:prstDash val="solid"/>
          </a:ln>
        </p:spPr>
        <p:txBody>
          <a:bodyPr/>
          <a:lstStyle/>
          <a:p>
            <a:endParaRPr lang="en-001"/>
          </a:p>
        </p:txBody>
      </p:sp>
      <p:sp>
        <p:nvSpPr>
          <p:cNvPr id="22" name="Shape 20"/>
          <p:cNvSpPr/>
          <p:nvPr/>
        </p:nvSpPr>
        <p:spPr>
          <a:xfrm>
            <a:off x="6483096" y="3831336"/>
            <a:ext cx="201168" cy="201168"/>
          </a:xfrm>
          <a:prstGeom prst="ellipse">
            <a:avLst/>
          </a:prstGeom>
          <a:solidFill>
            <a:srgbClr val="991B1B"/>
          </a:solidFill>
          <a:ln w="12700">
            <a:solidFill>
              <a:srgbClr val="FFFFFF"/>
            </a:solidFill>
            <a:prstDash val="solid"/>
          </a:ln>
        </p:spPr>
        <p:txBody>
          <a:bodyPr/>
          <a:lstStyle/>
          <a:p>
            <a:endParaRPr lang="en-001"/>
          </a:p>
        </p:txBody>
      </p:sp>
      <p:sp>
        <p:nvSpPr>
          <p:cNvPr id="23" name="Shape 21"/>
          <p:cNvSpPr/>
          <p:nvPr/>
        </p:nvSpPr>
        <p:spPr>
          <a:xfrm>
            <a:off x="7690104" y="2898648"/>
            <a:ext cx="201168" cy="201168"/>
          </a:xfrm>
          <a:prstGeom prst="ellipse">
            <a:avLst/>
          </a:prstGeom>
          <a:solidFill>
            <a:srgbClr val="1A3C5E"/>
          </a:solidFill>
          <a:ln w="12700">
            <a:solidFill>
              <a:srgbClr val="FFFFFF"/>
            </a:solidFill>
            <a:prstDash val="solid"/>
          </a:ln>
        </p:spPr>
        <p:txBody>
          <a:bodyPr/>
          <a:lstStyle/>
          <a:p>
            <a:endParaRPr lang="en-001"/>
          </a:p>
        </p:txBody>
      </p:sp>
      <p:sp>
        <p:nvSpPr>
          <p:cNvPr id="24" name="Shape 22"/>
          <p:cNvSpPr/>
          <p:nvPr/>
        </p:nvSpPr>
        <p:spPr>
          <a:xfrm>
            <a:off x="8897112" y="1965960"/>
            <a:ext cx="201168" cy="201168"/>
          </a:xfrm>
          <a:prstGeom prst="ellipse">
            <a:avLst/>
          </a:prstGeom>
          <a:solidFill>
            <a:srgbClr val="1A3C5E"/>
          </a:solidFill>
          <a:ln w="12700">
            <a:solidFill>
              <a:srgbClr val="FFFFFF"/>
            </a:solidFill>
            <a:prstDash val="solid"/>
          </a:ln>
        </p:spPr>
        <p:txBody>
          <a:bodyPr/>
          <a:lstStyle/>
          <a:p>
            <a:endParaRPr lang="en-001"/>
          </a:p>
        </p:txBody>
      </p:sp>
      <p:sp>
        <p:nvSpPr>
          <p:cNvPr id="25" name="Shape 23"/>
          <p:cNvSpPr/>
          <p:nvPr/>
        </p:nvSpPr>
        <p:spPr>
          <a:xfrm>
            <a:off x="4069080" y="3831336"/>
            <a:ext cx="201168" cy="201168"/>
          </a:xfrm>
          <a:prstGeom prst="ellipse">
            <a:avLst/>
          </a:prstGeom>
          <a:solidFill>
            <a:srgbClr val="C07A2D"/>
          </a:solidFill>
          <a:ln w="12700">
            <a:solidFill>
              <a:srgbClr val="FFFFFF"/>
            </a:solidFill>
            <a:prstDash val="solid"/>
          </a:ln>
        </p:spPr>
        <p:txBody>
          <a:bodyPr/>
          <a:lstStyle/>
          <a:p>
            <a:endParaRPr lang="en-001"/>
          </a:p>
        </p:txBody>
      </p:sp>
      <p:sp>
        <p:nvSpPr>
          <p:cNvPr id="26" name="Shape 24"/>
          <p:cNvSpPr/>
          <p:nvPr/>
        </p:nvSpPr>
        <p:spPr>
          <a:xfrm>
            <a:off x="6483096" y="2898648"/>
            <a:ext cx="201168" cy="201168"/>
          </a:xfrm>
          <a:prstGeom prst="ellipse">
            <a:avLst/>
          </a:prstGeom>
          <a:solidFill>
            <a:srgbClr val="1A3C5E"/>
          </a:solidFill>
          <a:ln w="12700">
            <a:solidFill>
              <a:srgbClr val="FFFFFF"/>
            </a:solidFill>
            <a:prstDash val="solid"/>
          </a:ln>
        </p:spPr>
        <p:txBody>
          <a:bodyPr/>
          <a:lstStyle/>
          <a:p>
            <a:endParaRPr lang="en-001"/>
          </a:p>
        </p:txBody>
      </p:sp>
      <p:sp>
        <p:nvSpPr>
          <p:cNvPr id="27" name="Shape 25"/>
          <p:cNvSpPr/>
          <p:nvPr/>
        </p:nvSpPr>
        <p:spPr>
          <a:xfrm>
            <a:off x="8897112" y="1965960"/>
            <a:ext cx="201168" cy="201168"/>
          </a:xfrm>
          <a:prstGeom prst="ellipse">
            <a:avLst/>
          </a:prstGeom>
          <a:solidFill>
            <a:srgbClr val="1A3C5E"/>
          </a:solidFill>
          <a:ln w="12700">
            <a:solidFill>
              <a:srgbClr val="FFFFFF"/>
            </a:solidFill>
            <a:prstDash val="solid"/>
          </a:ln>
        </p:spPr>
        <p:txBody>
          <a:bodyPr/>
          <a:lstStyle/>
          <a:p>
            <a:endParaRPr lang="en-001"/>
          </a:p>
        </p:txBody>
      </p:sp>
      <p:sp>
        <p:nvSpPr>
          <p:cNvPr id="28" name="Shape 26"/>
          <p:cNvSpPr/>
          <p:nvPr/>
        </p:nvSpPr>
        <p:spPr>
          <a:xfrm>
            <a:off x="7690104" y="2898648"/>
            <a:ext cx="201168" cy="201168"/>
          </a:xfrm>
          <a:prstGeom prst="ellipse">
            <a:avLst/>
          </a:prstGeom>
          <a:solidFill>
            <a:srgbClr val="1A3C5E"/>
          </a:solidFill>
          <a:ln w="12700">
            <a:solidFill>
              <a:srgbClr val="FFFFFF"/>
            </a:solidFill>
            <a:prstDash val="solid"/>
          </a:ln>
        </p:spPr>
        <p:txBody>
          <a:bodyPr/>
          <a:lstStyle/>
          <a:p>
            <a:endParaRPr lang="en-001"/>
          </a:p>
        </p:txBody>
      </p:sp>
      <p:sp>
        <p:nvSpPr>
          <p:cNvPr id="29" name="Shape 27"/>
          <p:cNvSpPr/>
          <p:nvPr/>
        </p:nvSpPr>
        <p:spPr>
          <a:xfrm>
            <a:off x="5276088" y="1965960"/>
            <a:ext cx="201168" cy="201168"/>
          </a:xfrm>
          <a:prstGeom prst="ellipse">
            <a:avLst/>
          </a:prstGeom>
          <a:solidFill>
            <a:srgbClr val="1E6B4A"/>
          </a:solidFill>
          <a:ln w="12700">
            <a:solidFill>
              <a:srgbClr val="FFFFFF"/>
            </a:solidFill>
            <a:prstDash val="solid"/>
          </a:ln>
        </p:spPr>
        <p:txBody>
          <a:bodyPr/>
          <a:lstStyle/>
          <a:p>
            <a:endParaRPr lang="en-001"/>
          </a:p>
        </p:txBody>
      </p:sp>
      <p:sp>
        <p:nvSpPr>
          <p:cNvPr id="30" name="Shape 28"/>
          <p:cNvSpPr/>
          <p:nvPr/>
        </p:nvSpPr>
        <p:spPr>
          <a:xfrm>
            <a:off x="5276088" y="2898648"/>
            <a:ext cx="201168" cy="201168"/>
          </a:xfrm>
          <a:prstGeom prst="ellipse">
            <a:avLst/>
          </a:prstGeom>
          <a:solidFill>
            <a:srgbClr val="1E6B4A"/>
          </a:solidFill>
          <a:ln w="12700">
            <a:solidFill>
              <a:srgbClr val="FFFFFF"/>
            </a:solidFill>
            <a:prstDash val="solid"/>
          </a:ln>
        </p:spPr>
        <p:txBody>
          <a:bodyPr/>
          <a:lstStyle/>
          <a:p>
            <a:endParaRPr lang="en-001"/>
          </a:p>
        </p:txBody>
      </p:sp>
      <p:sp>
        <p:nvSpPr>
          <p:cNvPr id="31" name="Text 29"/>
          <p:cNvSpPr/>
          <p:nvPr/>
        </p:nvSpPr>
        <p:spPr>
          <a:xfrm>
            <a:off x="457200" y="2103120"/>
            <a:ext cx="2880360" cy="1280160"/>
          </a:xfrm>
          <a:prstGeom prst="rect">
            <a:avLst/>
          </a:prstGeom>
          <a:noFill/>
          <a:ln/>
        </p:spPr>
        <p:txBody>
          <a:bodyPr wrap="square" rtlCol="0" anchor="ctr"/>
          <a:lstStyle/>
          <a:p>
            <a:pPr marL="0" indent="0">
              <a:lnSpc>
                <a:spcPct val="125000"/>
              </a:lnSpc>
              <a:buNone/>
            </a:pPr>
            <a:r>
              <a:rPr lang="en-US" sz="1250" i="1" dirty="0">
                <a:solidFill>
                  <a:srgbClr val="2D3748"/>
                </a:solidFill>
                <a:latin typeface="Calibri" pitchFamily="34" charset="0"/>
                <a:ea typeface="Calibri" pitchFamily="34" charset="-122"/>
                <a:cs typeface="Calibri" pitchFamily="34" charset="-120"/>
              </a:rPr>
              <a:t>Each dot is one candidate</a:t>
            </a:r>
            <a:endParaRPr lang="en-US" sz="1250" dirty="0"/>
          </a:p>
          <a:p>
            <a:pPr marL="0" indent="0">
              <a:lnSpc>
                <a:spcPct val="125000"/>
              </a:lnSpc>
              <a:buNone/>
            </a:pPr>
            <a:r>
              <a:rPr lang="en-US" sz="1250" i="1" dirty="0">
                <a:solidFill>
                  <a:srgbClr val="2D3748"/>
                </a:solidFill>
                <a:latin typeface="Calibri" pitchFamily="34" charset="0"/>
                <a:ea typeface="Calibri" pitchFamily="34" charset="-122"/>
                <a:cs typeface="Calibri" pitchFamily="34" charset="-120"/>
              </a:rPr>
              <a:t>digitalisation initiative,</a:t>
            </a:r>
            <a:endParaRPr lang="en-US" sz="1250" dirty="0"/>
          </a:p>
          <a:p>
            <a:pPr marL="0" indent="0">
              <a:lnSpc>
                <a:spcPct val="125000"/>
              </a:lnSpc>
              <a:buNone/>
            </a:pPr>
            <a:r>
              <a:rPr lang="en-US" sz="1250" i="1" dirty="0">
                <a:solidFill>
                  <a:srgbClr val="2D3748"/>
                </a:solidFill>
                <a:latin typeface="Calibri" pitchFamily="34" charset="0"/>
                <a:ea typeface="Calibri" pitchFamily="34" charset="-122"/>
                <a:cs typeface="Calibri" pitchFamily="34" charset="-120"/>
              </a:rPr>
              <a:t>plotted by scored Impact</a:t>
            </a:r>
            <a:endParaRPr lang="en-US" sz="1250" dirty="0"/>
          </a:p>
          <a:p>
            <a:pPr marL="0" indent="0">
              <a:lnSpc>
                <a:spcPct val="125000"/>
              </a:lnSpc>
              <a:buNone/>
            </a:pPr>
            <a:r>
              <a:rPr lang="en-US" sz="1250" i="1" dirty="0">
                <a:solidFill>
                  <a:srgbClr val="2D3748"/>
                </a:solidFill>
                <a:latin typeface="Calibri" pitchFamily="34" charset="0"/>
                <a:ea typeface="Calibri" pitchFamily="34" charset="-122"/>
                <a:cs typeface="Calibri" pitchFamily="34" charset="-120"/>
              </a:rPr>
              <a:t>and Effort (1–5).</a:t>
            </a:r>
            <a:endParaRPr lang="en-US" sz="1250" dirty="0"/>
          </a:p>
        </p:txBody>
      </p:sp>
      <p:sp>
        <p:nvSpPr>
          <p:cNvPr id="32" name="Shape 30"/>
          <p:cNvSpPr/>
          <p:nvPr/>
        </p:nvSpPr>
        <p:spPr>
          <a:xfrm>
            <a:off x="502920" y="3611880"/>
            <a:ext cx="164592" cy="164592"/>
          </a:xfrm>
          <a:prstGeom prst="ellipse">
            <a:avLst/>
          </a:prstGeom>
          <a:solidFill>
            <a:srgbClr val="1E6B4A"/>
          </a:solidFill>
          <a:ln/>
        </p:spPr>
        <p:txBody>
          <a:bodyPr/>
          <a:lstStyle/>
          <a:p>
            <a:endParaRPr lang="en-001"/>
          </a:p>
        </p:txBody>
      </p:sp>
      <p:sp>
        <p:nvSpPr>
          <p:cNvPr id="33" name="Text 31"/>
          <p:cNvSpPr/>
          <p:nvPr/>
        </p:nvSpPr>
        <p:spPr>
          <a:xfrm>
            <a:off x="777240" y="3566160"/>
            <a:ext cx="246888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Quick Win</a:t>
            </a:r>
            <a:endParaRPr lang="en-US" sz="1200" dirty="0"/>
          </a:p>
        </p:txBody>
      </p:sp>
      <p:sp>
        <p:nvSpPr>
          <p:cNvPr id="34" name="Shape 32"/>
          <p:cNvSpPr/>
          <p:nvPr/>
        </p:nvSpPr>
        <p:spPr>
          <a:xfrm>
            <a:off x="502920" y="3995928"/>
            <a:ext cx="164592" cy="164592"/>
          </a:xfrm>
          <a:prstGeom prst="ellipse">
            <a:avLst/>
          </a:prstGeom>
          <a:solidFill>
            <a:srgbClr val="1A3C5E"/>
          </a:solidFill>
          <a:ln/>
        </p:spPr>
        <p:txBody>
          <a:bodyPr/>
          <a:lstStyle/>
          <a:p>
            <a:endParaRPr lang="en-001"/>
          </a:p>
        </p:txBody>
      </p:sp>
      <p:sp>
        <p:nvSpPr>
          <p:cNvPr id="35" name="Text 33"/>
          <p:cNvSpPr/>
          <p:nvPr/>
        </p:nvSpPr>
        <p:spPr>
          <a:xfrm>
            <a:off x="777240" y="3950208"/>
            <a:ext cx="246888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Major Project</a:t>
            </a:r>
            <a:endParaRPr lang="en-US" sz="1200" dirty="0"/>
          </a:p>
        </p:txBody>
      </p:sp>
      <p:sp>
        <p:nvSpPr>
          <p:cNvPr id="36" name="Shape 34"/>
          <p:cNvSpPr/>
          <p:nvPr/>
        </p:nvSpPr>
        <p:spPr>
          <a:xfrm>
            <a:off x="502920" y="4379976"/>
            <a:ext cx="164592" cy="164592"/>
          </a:xfrm>
          <a:prstGeom prst="ellipse">
            <a:avLst/>
          </a:prstGeom>
          <a:solidFill>
            <a:srgbClr val="C07A2D"/>
          </a:solidFill>
          <a:ln/>
        </p:spPr>
        <p:txBody>
          <a:bodyPr/>
          <a:lstStyle/>
          <a:p>
            <a:endParaRPr lang="en-001"/>
          </a:p>
        </p:txBody>
      </p:sp>
      <p:sp>
        <p:nvSpPr>
          <p:cNvPr id="37" name="Text 35"/>
          <p:cNvSpPr/>
          <p:nvPr/>
        </p:nvSpPr>
        <p:spPr>
          <a:xfrm>
            <a:off x="777240" y="4334256"/>
            <a:ext cx="246888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Fill-In</a:t>
            </a:r>
            <a:endParaRPr lang="en-US" sz="1200" dirty="0"/>
          </a:p>
        </p:txBody>
      </p:sp>
      <p:sp>
        <p:nvSpPr>
          <p:cNvPr id="38" name="Shape 36"/>
          <p:cNvSpPr/>
          <p:nvPr/>
        </p:nvSpPr>
        <p:spPr>
          <a:xfrm>
            <a:off x="502920" y="4764024"/>
            <a:ext cx="164592" cy="164592"/>
          </a:xfrm>
          <a:prstGeom prst="ellipse">
            <a:avLst/>
          </a:prstGeom>
          <a:solidFill>
            <a:srgbClr val="991B1B"/>
          </a:solidFill>
          <a:ln/>
        </p:spPr>
        <p:txBody>
          <a:bodyPr/>
          <a:lstStyle/>
          <a:p>
            <a:endParaRPr lang="en-001"/>
          </a:p>
        </p:txBody>
      </p:sp>
      <p:sp>
        <p:nvSpPr>
          <p:cNvPr id="39" name="Text 37"/>
          <p:cNvSpPr/>
          <p:nvPr/>
        </p:nvSpPr>
        <p:spPr>
          <a:xfrm>
            <a:off x="777240" y="4718304"/>
            <a:ext cx="246888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Deprioritise</a:t>
            </a:r>
            <a:endParaRPr lang="en-US" sz="1200" dirty="0"/>
          </a:p>
        </p:txBody>
      </p:sp>
      <p:sp>
        <p:nvSpPr>
          <p:cNvPr id="40" name="Text 38"/>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41" name="Text 39"/>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12-MONTH ROADMAP</a:t>
            </a:r>
            <a:endParaRPr lang="en-US" sz="11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Three Phases, Twelve Months</a:t>
            </a:r>
            <a:endParaRPr lang="en-US" sz="2800" dirty="0"/>
          </a:p>
        </p:txBody>
      </p:sp>
      <p:sp>
        <p:nvSpPr>
          <p:cNvPr id="4" name="Shape 2"/>
          <p:cNvSpPr/>
          <p:nvPr/>
        </p:nvSpPr>
        <p:spPr>
          <a:xfrm>
            <a:off x="640080" y="2103120"/>
            <a:ext cx="2720340" cy="1005840"/>
          </a:xfrm>
          <a:prstGeom prst="rect">
            <a:avLst/>
          </a:prstGeom>
          <a:solidFill>
            <a:srgbClr val="1E6B4A"/>
          </a:solidFill>
          <a:ln w="25400">
            <a:solidFill>
              <a:srgbClr val="FFFFFF"/>
            </a:solidFill>
            <a:prstDash val="solid"/>
          </a:ln>
        </p:spPr>
        <p:txBody>
          <a:bodyPr/>
          <a:lstStyle/>
          <a:p>
            <a:endParaRPr lang="en-001"/>
          </a:p>
        </p:txBody>
      </p:sp>
      <p:sp>
        <p:nvSpPr>
          <p:cNvPr id="5" name="Text 3"/>
          <p:cNvSpPr/>
          <p:nvPr/>
        </p:nvSpPr>
        <p:spPr>
          <a:xfrm>
            <a:off x="777240" y="2176272"/>
            <a:ext cx="2446020" cy="274320"/>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PHASE 1</a:t>
            </a:r>
            <a:endParaRPr lang="en-US" sz="1050" dirty="0"/>
          </a:p>
        </p:txBody>
      </p:sp>
      <p:sp>
        <p:nvSpPr>
          <p:cNvPr id="6" name="Text 4"/>
          <p:cNvSpPr/>
          <p:nvPr/>
        </p:nvSpPr>
        <p:spPr>
          <a:xfrm>
            <a:off x="777240" y="2450592"/>
            <a:ext cx="2446020" cy="365760"/>
          </a:xfrm>
          <a:prstGeom prst="rect">
            <a:avLst/>
          </a:prstGeom>
          <a:noFill/>
          <a:ln/>
        </p:spPr>
        <p:txBody>
          <a:bodyPr wrap="square" rtlCol="0" anchor="ctr"/>
          <a:lstStyle/>
          <a:p>
            <a:pPr marL="0" indent="0">
              <a:buNone/>
            </a:pPr>
            <a:r>
              <a:rPr lang="en-US" sz="1700" b="1" dirty="0">
                <a:solidFill>
                  <a:srgbClr val="FFFFFF"/>
                </a:solidFill>
                <a:latin typeface="Bookman Old Style" pitchFamily="34" charset="0"/>
                <a:ea typeface="Bookman Old Style" pitchFamily="34" charset="-122"/>
                <a:cs typeface="Bookman Old Style" pitchFamily="34" charset="-120"/>
              </a:rPr>
              <a:t>Quick Wins</a:t>
            </a:r>
            <a:endParaRPr lang="en-US" sz="1700" dirty="0"/>
          </a:p>
        </p:txBody>
      </p:sp>
      <p:sp>
        <p:nvSpPr>
          <p:cNvPr id="7" name="Text 5"/>
          <p:cNvSpPr/>
          <p:nvPr/>
        </p:nvSpPr>
        <p:spPr>
          <a:xfrm>
            <a:off x="777240" y="2816352"/>
            <a:ext cx="2446020" cy="274320"/>
          </a:xfrm>
          <a:prstGeom prst="rect">
            <a:avLst/>
          </a:prstGeom>
          <a:noFill/>
          <a:ln/>
        </p:spPr>
        <p:txBody>
          <a:bodyPr wrap="square" rtlCol="0" anchor="ctr"/>
          <a:lstStyle/>
          <a:p>
            <a:pPr marL="0" indent="0">
              <a:buNone/>
            </a:pPr>
            <a:r>
              <a:rPr lang="en-US" sz="1050" i="1" dirty="0">
                <a:solidFill>
                  <a:srgbClr val="F0F0F0"/>
                </a:solidFill>
                <a:latin typeface="Calibri" pitchFamily="34" charset="0"/>
                <a:ea typeface="Calibri" pitchFamily="34" charset="-122"/>
                <a:cs typeface="Calibri" pitchFamily="34" charset="-120"/>
              </a:rPr>
              <a:t>Months 1–3</a:t>
            </a:r>
            <a:endParaRPr lang="en-US" sz="1050" dirty="0"/>
          </a:p>
        </p:txBody>
      </p:sp>
      <p:sp>
        <p:nvSpPr>
          <p:cNvPr id="8" name="Shape 6"/>
          <p:cNvSpPr/>
          <p:nvPr/>
        </p:nvSpPr>
        <p:spPr>
          <a:xfrm>
            <a:off x="3360420" y="2103120"/>
            <a:ext cx="4533900" cy="1005840"/>
          </a:xfrm>
          <a:prstGeom prst="rect">
            <a:avLst/>
          </a:prstGeom>
          <a:solidFill>
            <a:srgbClr val="1A3C5E"/>
          </a:solidFill>
          <a:ln w="25400">
            <a:solidFill>
              <a:srgbClr val="FFFFFF"/>
            </a:solidFill>
            <a:prstDash val="solid"/>
          </a:ln>
        </p:spPr>
        <p:txBody>
          <a:bodyPr/>
          <a:lstStyle/>
          <a:p>
            <a:endParaRPr lang="en-001"/>
          </a:p>
        </p:txBody>
      </p:sp>
      <p:sp>
        <p:nvSpPr>
          <p:cNvPr id="9" name="Text 7"/>
          <p:cNvSpPr/>
          <p:nvPr/>
        </p:nvSpPr>
        <p:spPr>
          <a:xfrm>
            <a:off x="3497580" y="2176272"/>
            <a:ext cx="4259580" cy="274320"/>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PHASE 2</a:t>
            </a:r>
            <a:endParaRPr lang="en-US" sz="1050" dirty="0"/>
          </a:p>
        </p:txBody>
      </p:sp>
      <p:sp>
        <p:nvSpPr>
          <p:cNvPr id="10" name="Text 8"/>
          <p:cNvSpPr/>
          <p:nvPr/>
        </p:nvSpPr>
        <p:spPr>
          <a:xfrm>
            <a:off x="3497580" y="2450592"/>
            <a:ext cx="4259580" cy="365760"/>
          </a:xfrm>
          <a:prstGeom prst="rect">
            <a:avLst/>
          </a:prstGeom>
          <a:noFill/>
          <a:ln/>
        </p:spPr>
        <p:txBody>
          <a:bodyPr wrap="square" rtlCol="0" anchor="ctr"/>
          <a:lstStyle/>
          <a:p>
            <a:pPr marL="0" indent="0">
              <a:buNone/>
            </a:pPr>
            <a:r>
              <a:rPr lang="en-US" sz="1700" b="1" dirty="0">
                <a:solidFill>
                  <a:srgbClr val="FFFFFF"/>
                </a:solidFill>
                <a:latin typeface="Bookman Old Style" pitchFamily="34" charset="0"/>
                <a:ea typeface="Bookman Old Style" pitchFamily="34" charset="-122"/>
                <a:cs typeface="Bookman Old Style" pitchFamily="34" charset="-120"/>
              </a:rPr>
              <a:t>Core Build</a:t>
            </a:r>
            <a:endParaRPr lang="en-US" sz="1700" dirty="0"/>
          </a:p>
        </p:txBody>
      </p:sp>
      <p:sp>
        <p:nvSpPr>
          <p:cNvPr id="11" name="Text 9"/>
          <p:cNvSpPr/>
          <p:nvPr/>
        </p:nvSpPr>
        <p:spPr>
          <a:xfrm>
            <a:off x="3497580" y="2816352"/>
            <a:ext cx="4259580" cy="274320"/>
          </a:xfrm>
          <a:prstGeom prst="rect">
            <a:avLst/>
          </a:prstGeom>
          <a:noFill/>
          <a:ln/>
        </p:spPr>
        <p:txBody>
          <a:bodyPr wrap="square" rtlCol="0" anchor="ctr"/>
          <a:lstStyle/>
          <a:p>
            <a:pPr marL="0" indent="0">
              <a:buNone/>
            </a:pPr>
            <a:r>
              <a:rPr lang="en-US" sz="1050" i="1" dirty="0">
                <a:solidFill>
                  <a:srgbClr val="F0F0F0"/>
                </a:solidFill>
                <a:latin typeface="Calibri" pitchFamily="34" charset="0"/>
                <a:ea typeface="Calibri" pitchFamily="34" charset="-122"/>
                <a:cs typeface="Calibri" pitchFamily="34" charset="-120"/>
              </a:rPr>
              <a:t>Months 4–8</a:t>
            </a:r>
            <a:endParaRPr lang="en-US" sz="1050" dirty="0"/>
          </a:p>
        </p:txBody>
      </p:sp>
      <p:sp>
        <p:nvSpPr>
          <p:cNvPr id="12" name="Shape 10"/>
          <p:cNvSpPr/>
          <p:nvPr/>
        </p:nvSpPr>
        <p:spPr>
          <a:xfrm>
            <a:off x="7894320" y="2103120"/>
            <a:ext cx="3627120" cy="1005840"/>
          </a:xfrm>
          <a:prstGeom prst="rect">
            <a:avLst/>
          </a:prstGeom>
          <a:solidFill>
            <a:srgbClr val="C07A2D"/>
          </a:solidFill>
          <a:ln w="25400">
            <a:solidFill>
              <a:srgbClr val="FFFFFF"/>
            </a:solidFill>
            <a:prstDash val="solid"/>
          </a:ln>
        </p:spPr>
        <p:txBody>
          <a:bodyPr/>
          <a:lstStyle/>
          <a:p>
            <a:endParaRPr lang="en-001"/>
          </a:p>
        </p:txBody>
      </p:sp>
      <p:sp>
        <p:nvSpPr>
          <p:cNvPr id="13" name="Text 11"/>
          <p:cNvSpPr/>
          <p:nvPr/>
        </p:nvSpPr>
        <p:spPr>
          <a:xfrm>
            <a:off x="8031480" y="2176272"/>
            <a:ext cx="3352800" cy="274320"/>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PHASE 3</a:t>
            </a:r>
            <a:endParaRPr lang="en-US" sz="1050" dirty="0"/>
          </a:p>
        </p:txBody>
      </p:sp>
      <p:sp>
        <p:nvSpPr>
          <p:cNvPr id="14" name="Text 12"/>
          <p:cNvSpPr/>
          <p:nvPr/>
        </p:nvSpPr>
        <p:spPr>
          <a:xfrm>
            <a:off x="8031480" y="2450592"/>
            <a:ext cx="3352800" cy="365760"/>
          </a:xfrm>
          <a:prstGeom prst="rect">
            <a:avLst/>
          </a:prstGeom>
          <a:noFill/>
          <a:ln/>
        </p:spPr>
        <p:txBody>
          <a:bodyPr wrap="square" rtlCol="0" anchor="ctr"/>
          <a:lstStyle/>
          <a:p>
            <a:pPr marL="0" indent="0">
              <a:buNone/>
            </a:pPr>
            <a:r>
              <a:rPr lang="en-US" sz="1700" b="1" dirty="0">
                <a:solidFill>
                  <a:srgbClr val="FFFFFF"/>
                </a:solidFill>
                <a:latin typeface="Bookman Old Style" pitchFamily="34" charset="0"/>
                <a:ea typeface="Bookman Old Style" pitchFamily="34" charset="-122"/>
                <a:cs typeface="Bookman Old Style" pitchFamily="34" charset="-120"/>
              </a:rPr>
              <a:t>Scale &amp; Optimise</a:t>
            </a:r>
            <a:endParaRPr lang="en-US" sz="1700" dirty="0"/>
          </a:p>
        </p:txBody>
      </p:sp>
      <p:sp>
        <p:nvSpPr>
          <p:cNvPr id="15" name="Text 13"/>
          <p:cNvSpPr/>
          <p:nvPr/>
        </p:nvSpPr>
        <p:spPr>
          <a:xfrm>
            <a:off x="8031480" y="2816352"/>
            <a:ext cx="3352800" cy="274320"/>
          </a:xfrm>
          <a:prstGeom prst="rect">
            <a:avLst/>
          </a:prstGeom>
          <a:noFill/>
          <a:ln/>
        </p:spPr>
        <p:txBody>
          <a:bodyPr wrap="square" rtlCol="0" anchor="ctr"/>
          <a:lstStyle/>
          <a:p>
            <a:pPr marL="0" indent="0">
              <a:buNone/>
            </a:pPr>
            <a:r>
              <a:rPr lang="en-US" sz="1050" i="1" dirty="0">
                <a:solidFill>
                  <a:srgbClr val="F0F0F0"/>
                </a:solidFill>
                <a:latin typeface="Calibri" pitchFamily="34" charset="0"/>
                <a:ea typeface="Calibri" pitchFamily="34" charset="-122"/>
                <a:cs typeface="Calibri" pitchFamily="34" charset="-120"/>
              </a:rPr>
              <a:t>Months 9–12</a:t>
            </a:r>
            <a:endParaRPr lang="en-US" sz="1050" dirty="0"/>
          </a:p>
        </p:txBody>
      </p:sp>
      <p:sp>
        <p:nvSpPr>
          <p:cNvPr id="16" name="Text 14"/>
          <p:cNvSpPr/>
          <p:nvPr/>
        </p:nvSpPr>
        <p:spPr>
          <a:xfrm>
            <a:off x="81915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M1</a:t>
            </a:r>
            <a:endParaRPr lang="en-US" sz="1000" dirty="0"/>
          </a:p>
        </p:txBody>
      </p:sp>
      <p:sp>
        <p:nvSpPr>
          <p:cNvPr id="17" name="Text 15"/>
          <p:cNvSpPr/>
          <p:nvPr/>
        </p:nvSpPr>
        <p:spPr>
          <a:xfrm>
            <a:off x="172593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M2</a:t>
            </a:r>
            <a:endParaRPr lang="en-US" sz="1000" dirty="0"/>
          </a:p>
        </p:txBody>
      </p:sp>
      <p:sp>
        <p:nvSpPr>
          <p:cNvPr id="18" name="Text 16"/>
          <p:cNvSpPr/>
          <p:nvPr/>
        </p:nvSpPr>
        <p:spPr>
          <a:xfrm>
            <a:off x="263271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M3</a:t>
            </a:r>
            <a:endParaRPr lang="en-US" sz="1000" dirty="0"/>
          </a:p>
        </p:txBody>
      </p:sp>
      <p:sp>
        <p:nvSpPr>
          <p:cNvPr id="19" name="Text 17"/>
          <p:cNvSpPr/>
          <p:nvPr/>
        </p:nvSpPr>
        <p:spPr>
          <a:xfrm>
            <a:off x="353949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M4</a:t>
            </a:r>
            <a:endParaRPr lang="en-US" sz="1000" dirty="0"/>
          </a:p>
        </p:txBody>
      </p:sp>
      <p:sp>
        <p:nvSpPr>
          <p:cNvPr id="20" name="Text 18"/>
          <p:cNvSpPr/>
          <p:nvPr/>
        </p:nvSpPr>
        <p:spPr>
          <a:xfrm>
            <a:off x="444627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M5</a:t>
            </a:r>
            <a:endParaRPr lang="en-US" sz="1000" dirty="0"/>
          </a:p>
        </p:txBody>
      </p:sp>
      <p:sp>
        <p:nvSpPr>
          <p:cNvPr id="21" name="Text 19"/>
          <p:cNvSpPr/>
          <p:nvPr/>
        </p:nvSpPr>
        <p:spPr>
          <a:xfrm>
            <a:off x="535305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M6</a:t>
            </a:r>
            <a:endParaRPr lang="en-US" sz="1000" dirty="0"/>
          </a:p>
        </p:txBody>
      </p:sp>
      <p:sp>
        <p:nvSpPr>
          <p:cNvPr id="22" name="Text 20"/>
          <p:cNvSpPr/>
          <p:nvPr/>
        </p:nvSpPr>
        <p:spPr>
          <a:xfrm>
            <a:off x="625983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M7</a:t>
            </a:r>
            <a:endParaRPr lang="en-US" sz="1000" dirty="0"/>
          </a:p>
        </p:txBody>
      </p:sp>
      <p:sp>
        <p:nvSpPr>
          <p:cNvPr id="23" name="Text 21"/>
          <p:cNvSpPr/>
          <p:nvPr/>
        </p:nvSpPr>
        <p:spPr>
          <a:xfrm>
            <a:off x="716661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M8</a:t>
            </a:r>
            <a:endParaRPr lang="en-US" sz="1000" dirty="0"/>
          </a:p>
        </p:txBody>
      </p:sp>
      <p:sp>
        <p:nvSpPr>
          <p:cNvPr id="24" name="Text 22"/>
          <p:cNvSpPr/>
          <p:nvPr/>
        </p:nvSpPr>
        <p:spPr>
          <a:xfrm>
            <a:off x="807339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M9</a:t>
            </a:r>
            <a:endParaRPr lang="en-US" sz="1000" dirty="0"/>
          </a:p>
        </p:txBody>
      </p:sp>
      <p:sp>
        <p:nvSpPr>
          <p:cNvPr id="25" name="Text 23"/>
          <p:cNvSpPr/>
          <p:nvPr/>
        </p:nvSpPr>
        <p:spPr>
          <a:xfrm>
            <a:off x="898017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M10</a:t>
            </a:r>
            <a:endParaRPr lang="en-US" sz="1000" dirty="0"/>
          </a:p>
        </p:txBody>
      </p:sp>
      <p:sp>
        <p:nvSpPr>
          <p:cNvPr id="26" name="Text 24"/>
          <p:cNvSpPr/>
          <p:nvPr/>
        </p:nvSpPr>
        <p:spPr>
          <a:xfrm>
            <a:off x="988695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M11</a:t>
            </a:r>
            <a:endParaRPr lang="en-US" sz="1000" dirty="0"/>
          </a:p>
        </p:txBody>
      </p:sp>
      <p:sp>
        <p:nvSpPr>
          <p:cNvPr id="27" name="Text 25"/>
          <p:cNvSpPr/>
          <p:nvPr/>
        </p:nvSpPr>
        <p:spPr>
          <a:xfrm>
            <a:off x="10793730" y="3182112"/>
            <a:ext cx="54864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M12</a:t>
            </a:r>
            <a:endParaRPr lang="en-US" sz="1000" dirty="0"/>
          </a:p>
        </p:txBody>
      </p:sp>
      <p:sp>
        <p:nvSpPr>
          <p:cNvPr id="28" name="Text 26"/>
          <p:cNvSpPr/>
          <p:nvPr/>
        </p:nvSpPr>
        <p:spPr>
          <a:xfrm>
            <a:off x="640080" y="3931920"/>
            <a:ext cx="10881360" cy="1005840"/>
          </a:xfrm>
          <a:prstGeom prst="rect">
            <a:avLst/>
          </a:prstGeom>
          <a:noFill/>
          <a:ln/>
        </p:spPr>
        <p:txBody>
          <a:bodyPr wrap="square" rtlCol="0" anchor="ctr"/>
          <a:lstStyle/>
          <a:p>
            <a:pPr marL="0" indent="0">
              <a:lnSpc>
                <a:spcPct val="130000"/>
              </a:lnSpc>
              <a:buNone/>
            </a:pPr>
            <a:r>
              <a:rPr lang="en-US" sz="1400" dirty="0">
                <a:solidFill>
                  <a:srgbClr val="2D3748"/>
                </a:solidFill>
                <a:latin typeface="Calibri" pitchFamily="34" charset="0"/>
                <a:ea typeface="Calibri" pitchFamily="34" charset="-122"/>
                <a:cs typeface="Calibri" pitchFamily="34" charset="-120"/>
              </a:rPr>
              <a:t>Quick Wins build early momentum and free up capacity. Core Build tackles the higher-effort, higher-value initiatives once the team has tooling familiarity. Scale &amp; Optimise closes out complex, cross-functional projects and locks in the operating model.</a:t>
            </a:r>
            <a:endParaRPr lang="en-US" sz="1400" dirty="0"/>
          </a:p>
        </p:txBody>
      </p:sp>
      <p:sp>
        <p:nvSpPr>
          <p:cNvPr id="29" name="Text 27"/>
          <p:cNvSpPr/>
          <p:nvPr/>
        </p:nvSpPr>
        <p:spPr>
          <a:xfrm>
            <a:off x="640080" y="5212080"/>
            <a:ext cx="914400" cy="548640"/>
          </a:xfrm>
          <a:prstGeom prst="rect">
            <a:avLst/>
          </a:prstGeom>
          <a:noFill/>
          <a:ln/>
        </p:spPr>
        <p:txBody>
          <a:bodyPr wrap="square" rtlCol="0" anchor="ctr"/>
          <a:lstStyle/>
          <a:p>
            <a:pPr marL="0" indent="0">
              <a:buNone/>
            </a:pPr>
            <a:r>
              <a:rPr lang="en-US" sz="3000" b="1" dirty="0">
                <a:solidFill>
                  <a:srgbClr val="1E6B4A"/>
                </a:solidFill>
                <a:latin typeface="Bookman Old Style" pitchFamily="34" charset="0"/>
                <a:ea typeface="Bookman Old Style" pitchFamily="34" charset="-122"/>
                <a:cs typeface="Bookman Old Style" pitchFamily="34" charset="-120"/>
              </a:rPr>
              <a:t>4</a:t>
            </a:r>
            <a:endParaRPr lang="en-US" sz="3000" dirty="0"/>
          </a:p>
        </p:txBody>
      </p:sp>
      <p:sp>
        <p:nvSpPr>
          <p:cNvPr id="30" name="Text 28"/>
          <p:cNvSpPr/>
          <p:nvPr/>
        </p:nvSpPr>
        <p:spPr>
          <a:xfrm>
            <a:off x="1600200" y="5321808"/>
            <a:ext cx="2560320" cy="45720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Quick Win initiatives</a:t>
            </a:r>
            <a:endParaRPr lang="en-US" sz="1200" dirty="0"/>
          </a:p>
        </p:txBody>
      </p:sp>
      <p:sp>
        <p:nvSpPr>
          <p:cNvPr id="31" name="Text 29"/>
          <p:cNvSpPr/>
          <p:nvPr/>
        </p:nvSpPr>
        <p:spPr>
          <a:xfrm>
            <a:off x="4297680" y="5212080"/>
            <a:ext cx="914400" cy="548640"/>
          </a:xfrm>
          <a:prstGeom prst="rect">
            <a:avLst/>
          </a:prstGeom>
          <a:noFill/>
          <a:ln/>
        </p:spPr>
        <p:txBody>
          <a:bodyPr wrap="square" rtlCol="0" anchor="ctr"/>
          <a:lstStyle/>
          <a:p>
            <a:pPr marL="0" indent="0">
              <a:buNone/>
            </a:pPr>
            <a:r>
              <a:rPr lang="en-US" sz="3000" b="1" dirty="0">
                <a:solidFill>
                  <a:srgbClr val="1A3C5E"/>
                </a:solidFill>
                <a:latin typeface="Bookman Old Style" pitchFamily="34" charset="0"/>
                <a:ea typeface="Bookman Old Style" pitchFamily="34" charset="-122"/>
                <a:cs typeface="Bookman Old Style" pitchFamily="34" charset="-120"/>
              </a:rPr>
              <a:t>8</a:t>
            </a:r>
            <a:endParaRPr lang="en-US" sz="3000" dirty="0"/>
          </a:p>
        </p:txBody>
      </p:sp>
      <p:sp>
        <p:nvSpPr>
          <p:cNvPr id="32" name="Text 30"/>
          <p:cNvSpPr/>
          <p:nvPr/>
        </p:nvSpPr>
        <p:spPr>
          <a:xfrm>
            <a:off x="5257800" y="5321808"/>
            <a:ext cx="2560320" cy="45720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Major Project initiatives</a:t>
            </a:r>
            <a:endParaRPr lang="en-US" sz="1200" dirty="0"/>
          </a:p>
        </p:txBody>
      </p:sp>
      <p:sp>
        <p:nvSpPr>
          <p:cNvPr id="33" name="Text 31"/>
          <p:cNvSpPr/>
          <p:nvPr/>
        </p:nvSpPr>
        <p:spPr>
          <a:xfrm>
            <a:off x="7955280" y="5212080"/>
            <a:ext cx="914400" cy="548640"/>
          </a:xfrm>
          <a:prstGeom prst="rect">
            <a:avLst/>
          </a:prstGeom>
          <a:noFill/>
          <a:ln/>
        </p:spPr>
        <p:txBody>
          <a:bodyPr wrap="square" rtlCol="0" anchor="ctr"/>
          <a:lstStyle/>
          <a:p>
            <a:pPr marL="0" indent="0">
              <a:buNone/>
            </a:pPr>
            <a:r>
              <a:rPr lang="en-US" sz="3000" b="1" dirty="0">
                <a:solidFill>
                  <a:srgbClr val="C07A2D"/>
                </a:solidFill>
                <a:latin typeface="Bookman Old Style" pitchFamily="34" charset="0"/>
                <a:ea typeface="Bookman Old Style" pitchFamily="34" charset="-122"/>
                <a:cs typeface="Bookman Old Style" pitchFamily="34" charset="-120"/>
              </a:rPr>
              <a:t>2</a:t>
            </a:r>
            <a:endParaRPr lang="en-US" sz="3000" dirty="0"/>
          </a:p>
        </p:txBody>
      </p:sp>
      <p:sp>
        <p:nvSpPr>
          <p:cNvPr id="34" name="Text 32"/>
          <p:cNvSpPr/>
          <p:nvPr/>
        </p:nvSpPr>
        <p:spPr>
          <a:xfrm>
            <a:off x="8915400" y="5321808"/>
            <a:ext cx="2560320" cy="45720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Fill-In initiatives</a:t>
            </a:r>
            <a:endParaRPr lang="en-US" sz="1200" dirty="0"/>
          </a:p>
        </p:txBody>
      </p:sp>
      <p:sp>
        <p:nvSpPr>
          <p:cNvPr id="35" name="Text 33"/>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36" name="Text 3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1E6B4A"/>
                </a:solidFill>
                <a:latin typeface="Calibri" pitchFamily="34" charset="0"/>
                <a:ea typeface="Calibri" pitchFamily="34" charset="-122"/>
                <a:cs typeface="Calibri" pitchFamily="34" charset="-120"/>
              </a:rPr>
              <a:t>PHASE 1 · MONTHS 1–3</a:t>
            </a:r>
            <a:endParaRPr lang="en-US" sz="11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Quick Wins</a:t>
            </a:r>
            <a:endParaRPr lang="en-US" sz="2800" dirty="0"/>
          </a:p>
        </p:txBody>
      </p:sp>
      <p:sp>
        <p:nvSpPr>
          <p:cNvPr id="4" name="Text 2"/>
          <p:cNvSpPr/>
          <p:nvPr/>
        </p:nvSpPr>
        <p:spPr>
          <a:xfrm>
            <a:off x="640080" y="1371600"/>
            <a:ext cx="10515600" cy="45720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High impact, low effort — build momentum and free up capacity for what follows.</a:t>
            </a:r>
            <a:endParaRPr lang="en-US" sz="1300" dirty="0"/>
          </a:p>
        </p:txBody>
      </p:sp>
      <p:sp>
        <p:nvSpPr>
          <p:cNvPr id="5" name="Shape 3"/>
          <p:cNvSpPr/>
          <p:nvPr/>
        </p:nvSpPr>
        <p:spPr>
          <a:xfrm>
            <a:off x="685800" y="2167128"/>
            <a:ext cx="502920" cy="502920"/>
          </a:xfrm>
          <a:prstGeom prst="ellipse">
            <a:avLst/>
          </a:prstGeom>
          <a:solidFill>
            <a:srgbClr val="1E6B4A"/>
          </a:solidFill>
          <a:ln/>
        </p:spPr>
        <p:txBody>
          <a:bodyPr/>
          <a:lstStyle/>
          <a:p>
            <a:endParaRPr lang="en-001"/>
          </a:p>
        </p:txBody>
      </p:sp>
      <p:sp>
        <p:nvSpPr>
          <p:cNvPr id="6" name="Text 4"/>
          <p:cNvSpPr/>
          <p:nvPr/>
        </p:nvSpPr>
        <p:spPr>
          <a:xfrm>
            <a:off x="685800" y="2167128"/>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1</a:t>
            </a:r>
            <a:endParaRPr lang="en-US" sz="1600" dirty="0"/>
          </a:p>
        </p:txBody>
      </p:sp>
      <p:sp>
        <p:nvSpPr>
          <p:cNvPr id="7" name="Shape 5"/>
          <p:cNvSpPr/>
          <p:nvPr/>
        </p:nvSpPr>
        <p:spPr>
          <a:xfrm>
            <a:off x="1417320" y="2057400"/>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8" name="Text 6"/>
          <p:cNvSpPr/>
          <p:nvPr/>
        </p:nvSpPr>
        <p:spPr>
          <a:xfrm>
            <a:off x="1645920" y="2130552"/>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Automate bank &amp; cash reconciliation</a:t>
            </a:r>
            <a:endParaRPr lang="en-US" sz="1400" dirty="0"/>
          </a:p>
        </p:txBody>
      </p:sp>
      <p:sp>
        <p:nvSpPr>
          <p:cNvPr id="9" name="Text 7"/>
          <p:cNvSpPr/>
          <p:nvPr/>
        </p:nvSpPr>
        <p:spPr>
          <a:xfrm>
            <a:off x="1645920" y="2441448"/>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Mature tools, low disruption — the clearest starting point.</a:t>
            </a:r>
            <a:endParaRPr lang="en-US" sz="1150" dirty="0"/>
          </a:p>
        </p:txBody>
      </p:sp>
      <p:sp>
        <p:nvSpPr>
          <p:cNvPr id="10" name="Shape 8"/>
          <p:cNvSpPr/>
          <p:nvPr/>
        </p:nvSpPr>
        <p:spPr>
          <a:xfrm>
            <a:off x="685800" y="3099816"/>
            <a:ext cx="502920" cy="502920"/>
          </a:xfrm>
          <a:prstGeom prst="ellipse">
            <a:avLst/>
          </a:prstGeom>
          <a:solidFill>
            <a:srgbClr val="1E6B4A"/>
          </a:solidFill>
          <a:ln/>
        </p:spPr>
        <p:txBody>
          <a:bodyPr/>
          <a:lstStyle/>
          <a:p>
            <a:endParaRPr lang="en-001"/>
          </a:p>
        </p:txBody>
      </p:sp>
      <p:sp>
        <p:nvSpPr>
          <p:cNvPr id="11" name="Text 9"/>
          <p:cNvSpPr/>
          <p:nvPr/>
        </p:nvSpPr>
        <p:spPr>
          <a:xfrm>
            <a:off x="685800" y="3099816"/>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2</a:t>
            </a:r>
            <a:endParaRPr lang="en-US" sz="1600" dirty="0"/>
          </a:p>
        </p:txBody>
      </p:sp>
      <p:sp>
        <p:nvSpPr>
          <p:cNvPr id="12" name="Shape 10"/>
          <p:cNvSpPr/>
          <p:nvPr/>
        </p:nvSpPr>
        <p:spPr>
          <a:xfrm>
            <a:off x="1417320" y="2990088"/>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3" name="Text 11"/>
          <p:cNvSpPr/>
          <p:nvPr/>
        </p:nvSpPr>
        <p:spPr>
          <a:xfrm>
            <a:off x="1645920" y="3063240"/>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Rolling 13-week cash flow forecast</a:t>
            </a:r>
            <a:endParaRPr lang="en-US" sz="1400" dirty="0"/>
          </a:p>
        </p:txBody>
      </p:sp>
      <p:sp>
        <p:nvSpPr>
          <p:cNvPr id="14" name="Text 12"/>
          <p:cNvSpPr/>
          <p:nvPr/>
        </p:nvSpPr>
        <p:spPr>
          <a:xfrm>
            <a:off x="1645920" y="3374136"/>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High visibility win for leadership and lenders alike.</a:t>
            </a:r>
            <a:endParaRPr lang="en-US" sz="1150" dirty="0"/>
          </a:p>
        </p:txBody>
      </p:sp>
      <p:sp>
        <p:nvSpPr>
          <p:cNvPr id="15" name="Shape 13"/>
          <p:cNvSpPr/>
          <p:nvPr/>
        </p:nvSpPr>
        <p:spPr>
          <a:xfrm>
            <a:off x="685800" y="4032504"/>
            <a:ext cx="502920" cy="502920"/>
          </a:xfrm>
          <a:prstGeom prst="ellipse">
            <a:avLst/>
          </a:prstGeom>
          <a:solidFill>
            <a:srgbClr val="1E6B4A"/>
          </a:solidFill>
          <a:ln/>
        </p:spPr>
        <p:txBody>
          <a:bodyPr/>
          <a:lstStyle/>
          <a:p>
            <a:endParaRPr lang="en-001"/>
          </a:p>
        </p:txBody>
      </p:sp>
      <p:sp>
        <p:nvSpPr>
          <p:cNvPr id="16" name="Text 14"/>
          <p:cNvSpPr/>
          <p:nvPr/>
        </p:nvSpPr>
        <p:spPr>
          <a:xfrm>
            <a:off x="685800" y="4032504"/>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3</a:t>
            </a:r>
            <a:endParaRPr lang="en-US" sz="1600" dirty="0"/>
          </a:p>
        </p:txBody>
      </p:sp>
      <p:sp>
        <p:nvSpPr>
          <p:cNvPr id="17" name="Shape 15"/>
          <p:cNvSpPr/>
          <p:nvPr/>
        </p:nvSpPr>
        <p:spPr>
          <a:xfrm>
            <a:off x="1417320" y="3922776"/>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8" name="Text 16"/>
          <p:cNvSpPr/>
          <p:nvPr/>
        </p:nvSpPr>
        <p:spPr>
          <a:xfrm>
            <a:off x="1645920" y="3995928"/>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Train finance team on AI tools &amp; data literacy</a:t>
            </a:r>
            <a:endParaRPr lang="en-US" sz="1400" dirty="0"/>
          </a:p>
        </p:txBody>
      </p:sp>
      <p:sp>
        <p:nvSpPr>
          <p:cNvPr id="19" name="Text 17"/>
          <p:cNvSpPr/>
          <p:nvPr/>
        </p:nvSpPr>
        <p:spPr>
          <a:xfrm>
            <a:off x="1645920" y="4306824"/>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Unlocks value from every other initiative on this roadmap.</a:t>
            </a:r>
            <a:endParaRPr lang="en-US" sz="1150" dirty="0"/>
          </a:p>
        </p:txBody>
      </p:sp>
      <p:sp>
        <p:nvSpPr>
          <p:cNvPr id="20" name="Shape 18"/>
          <p:cNvSpPr/>
          <p:nvPr/>
        </p:nvSpPr>
        <p:spPr>
          <a:xfrm>
            <a:off x="685800" y="4965192"/>
            <a:ext cx="502920" cy="502920"/>
          </a:xfrm>
          <a:prstGeom prst="ellipse">
            <a:avLst/>
          </a:prstGeom>
          <a:solidFill>
            <a:srgbClr val="1E6B4A"/>
          </a:solidFill>
          <a:ln/>
        </p:spPr>
        <p:txBody>
          <a:bodyPr/>
          <a:lstStyle/>
          <a:p>
            <a:endParaRPr lang="en-001"/>
          </a:p>
        </p:txBody>
      </p:sp>
      <p:sp>
        <p:nvSpPr>
          <p:cNvPr id="21" name="Text 19"/>
          <p:cNvSpPr/>
          <p:nvPr/>
        </p:nvSpPr>
        <p:spPr>
          <a:xfrm>
            <a:off x="685800" y="4965192"/>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4</a:t>
            </a:r>
            <a:endParaRPr lang="en-US" sz="1600" dirty="0"/>
          </a:p>
        </p:txBody>
      </p:sp>
      <p:sp>
        <p:nvSpPr>
          <p:cNvPr id="22" name="Shape 20"/>
          <p:cNvSpPr/>
          <p:nvPr/>
        </p:nvSpPr>
        <p:spPr>
          <a:xfrm>
            <a:off x="1417320" y="4855464"/>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23" name="Text 21"/>
          <p:cNvSpPr/>
          <p:nvPr/>
        </p:nvSpPr>
        <p:spPr>
          <a:xfrm>
            <a:off x="1645920" y="4928616"/>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Establish AI / data governance framework</a:t>
            </a:r>
            <a:endParaRPr lang="en-US" sz="1400" dirty="0"/>
          </a:p>
        </p:txBody>
      </p:sp>
      <p:sp>
        <p:nvSpPr>
          <p:cNvPr id="24" name="Text 22"/>
          <p:cNvSpPr/>
          <p:nvPr/>
        </p:nvSpPr>
        <p:spPr>
          <a:xfrm>
            <a:off x="1645920" y="5239512"/>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Do this early — retrofitting governance later is much harder.</a:t>
            </a:r>
            <a:endParaRPr lang="en-US" sz="1150" dirty="0"/>
          </a:p>
        </p:txBody>
      </p:sp>
      <p:sp>
        <p:nvSpPr>
          <p:cNvPr id="25" name="Text 23"/>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26" name="Text 2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1A3C5E"/>
                </a:solidFill>
                <a:latin typeface="Calibri" pitchFamily="34" charset="0"/>
                <a:ea typeface="Calibri" pitchFamily="34" charset="-122"/>
                <a:cs typeface="Calibri" pitchFamily="34" charset="-120"/>
              </a:rPr>
              <a:t>PHASE 2 · MONTHS 4–8</a:t>
            </a:r>
            <a:endParaRPr lang="en-US" sz="11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Core Build</a:t>
            </a:r>
            <a:endParaRPr lang="en-US" sz="2800" dirty="0"/>
          </a:p>
        </p:txBody>
      </p:sp>
      <p:sp>
        <p:nvSpPr>
          <p:cNvPr id="4" name="Text 2"/>
          <p:cNvSpPr/>
          <p:nvPr/>
        </p:nvSpPr>
        <p:spPr>
          <a:xfrm>
            <a:off x="640080" y="1371600"/>
            <a:ext cx="10515600" cy="45720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Higher-effort initiatives that need proper planning — tackled once the team has tooling familiarity.</a:t>
            </a:r>
            <a:endParaRPr lang="en-US" sz="1300" dirty="0"/>
          </a:p>
        </p:txBody>
      </p:sp>
      <p:sp>
        <p:nvSpPr>
          <p:cNvPr id="5" name="Shape 3"/>
          <p:cNvSpPr/>
          <p:nvPr/>
        </p:nvSpPr>
        <p:spPr>
          <a:xfrm>
            <a:off x="685800" y="2167128"/>
            <a:ext cx="502920" cy="502920"/>
          </a:xfrm>
          <a:prstGeom prst="ellipse">
            <a:avLst/>
          </a:prstGeom>
          <a:solidFill>
            <a:srgbClr val="1A3C5E"/>
          </a:solidFill>
          <a:ln/>
        </p:spPr>
        <p:txBody>
          <a:bodyPr/>
          <a:lstStyle/>
          <a:p>
            <a:endParaRPr lang="en-001"/>
          </a:p>
        </p:txBody>
      </p:sp>
      <p:sp>
        <p:nvSpPr>
          <p:cNvPr id="6" name="Text 4"/>
          <p:cNvSpPr/>
          <p:nvPr/>
        </p:nvSpPr>
        <p:spPr>
          <a:xfrm>
            <a:off x="685800" y="2167128"/>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1</a:t>
            </a:r>
            <a:endParaRPr lang="en-US" sz="1600" dirty="0"/>
          </a:p>
        </p:txBody>
      </p:sp>
      <p:sp>
        <p:nvSpPr>
          <p:cNvPr id="7" name="Shape 5"/>
          <p:cNvSpPr/>
          <p:nvPr/>
        </p:nvSpPr>
        <p:spPr>
          <a:xfrm>
            <a:off x="1417320" y="2057400"/>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8" name="Text 6"/>
          <p:cNvSpPr/>
          <p:nvPr/>
        </p:nvSpPr>
        <p:spPr>
          <a:xfrm>
            <a:off x="1645920" y="2130552"/>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Automate AP invoice processing (OCR / matching)</a:t>
            </a:r>
            <a:endParaRPr lang="en-US" sz="1400" dirty="0"/>
          </a:p>
        </p:txBody>
      </p:sp>
      <p:sp>
        <p:nvSpPr>
          <p:cNvPr id="9" name="Text 7"/>
          <p:cNvSpPr/>
          <p:nvPr/>
        </p:nvSpPr>
        <p:spPr>
          <a:xfrm>
            <a:off x="1645920" y="2441448"/>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High volume, high manual effort today — worth the build cost.</a:t>
            </a:r>
            <a:endParaRPr lang="en-US" sz="1150" dirty="0"/>
          </a:p>
        </p:txBody>
      </p:sp>
      <p:sp>
        <p:nvSpPr>
          <p:cNvPr id="10" name="Shape 8"/>
          <p:cNvSpPr/>
          <p:nvPr/>
        </p:nvSpPr>
        <p:spPr>
          <a:xfrm>
            <a:off x="685800" y="3099816"/>
            <a:ext cx="502920" cy="502920"/>
          </a:xfrm>
          <a:prstGeom prst="ellipse">
            <a:avLst/>
          </a:prstGeom>
          <a:solidFill>
            <a:srgbClr val="1A3C5E"/>
          </a:solidFill>
          <a:ln/>
        </p:spPr>
        <p:txBody>
          <a:bodyPr/>
          <a:lstStyle/>
          <a:p>
            <a:endParaRPr lang="en-001"/>
          </a:p>
        </p:txBody>
      </p:sp>
      <p:sp>
        <p:nvSpPr>
          <p:cNvPr id="11" name="Text 9"/>
          <p:cNvSpPr/>
          <p:nvPr/>
        </p:nvSpPr>
        <p:spPr>
          <a:xfrm>
            <a:off x="685800" y="3099816"/>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2</a:t>
            </a:r>
            <a:endParaRPr lang="en-US" sz="1600" dirty="0"/>
          </a:p>
        </p:txBody>
      </p:sp>
      <p:sp>
        <p:nvSpPr>
          <p:cNvPr id="12" name="Shape 10"/>
          <p:cNvSpPr/>
          <p:nvPr/>
        </p:nvSpPr>
        <p:spPr>
          <a:xfrm>
            <a:off x="1417320" y="2990088"/>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3" name="Text 11"/>
          <p:cNvSpPr/>
          <p:nvPr/>
        </p:nvSpPr>
        <p:spPr>
          <a:xfrm>
            <a:off x="1645920" y="3063240"/>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Automate AR collections &amp; dunning workflow</a:t>
            </a:r>
            <a:endParaRPr lang="en-US" sz="1400" dirty="0"/>
          </a:p>
        </p:txBody>
      </p:sp>
      <p:sp>
        <p:nvSpPr>
          <p:cNvPr id="14" name="Text 12"/>
          <p:cNvSpPr/>
          <p:nvPr/>
        </p:nvSpPr>
        <p:spPr>
          <a:xfrm>
            <a:off x="1645920" y="3374136"/>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Directly improves cash position, not just efficiency.</a:t>
            </a:r>
            <a:endParaRPr lang="en-US" sz="1150" dirty="0"/>
          </a:p>
        </p:txBody>
      </p:sp>
      <p:sp>
        <p:nvSpPr>
          <p:cNvPr id="15" name="Shape 13"/>
          <p:cNvSpPr/>
          <p:nvPr/>
        </p:nvSpPr>
        <p:spPr>
          <a:xfrm>
            <a:off x="685800" y="4032504"/>
            <a:ext cx="502920" cy="502920"/>
          </a:xfrm>
          <a:prstGeom prst="ellipse">
            <a:avLst/>
          </a:prstGeom>
          <a:solidFill>
            <a:srgbClr val="1A3C5E"/>
          </a:solidFill>
          <a:ln/>
        </p:spPr>
        <p:txBody>
          <a:bodyPr/>
          <a:lstStyle/>
          <a:p>
            <a:endParaRPr lang="en-001"/>
          </a:p>
        </p:txBody>
      </p:sp>
      <p:sp>
        <p:nvSpPr>
          <p:cNvPr id="16" name="Text 14"/>
          <p:cNvSpPr/>
          <p:nvPr/>
        </p:nvSpPr>
        <p:spPr>
          <a:xfrm>
            <a:off x="685800" y="4032504"/>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3</a:t>
            </a:r>
            <a:endParaRPr lang="en-US" sz="1600" dirty="0"/>
          </a:p>
        </p:txBody>
      </p:sp>
      <p:sp>
        <p:nvSpPr>
          <p:cNvPr id="17" name="Shape 15"/>
          <p:cNvSpPr/>
          <p:nvPr/>
        </p:nvSpPr>
        <p:spPr>
          <a:xfrm>
            <a:off x="1417320" y="3922776"/>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8" name="Text 16"/>
          <p:cNvSpPr/>
          <p:nvPr/>
        </p:nvSpPr>
        <p:spPr>
          <a:xfrm>
            <a:off x="1645920" y="3995928"/>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Self-service BI dashboards for stakeholders</a:t>
            </a:r>
            <a:endParaRPr lang="en-US" sz="1400" dirty="0"/>
          </a:p>
        </p:txBody>
      </p:sp>
      <p:sp>
        <p:nvSpPr>
          <p:cNvPr id="19" name="Text 17"/>
          <p:cNvSpPr/>
          <p:nvPr/>
        </p:nvSpPr>
        <p:spPr>
          <a:xfrm>
            <a:off x="1645920" y="4306824"/>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Reduces ad hoc reporting requests once adopted.</a:t>
            </a:r>
            <a:endParaRPr lang="en-US" sz="1150" dirty="0"/>
          </a:p>
        </p:txBody>
      </p:sp>
      <p:sp>
        <p:nvSpPr>
          <p:cNvPr id="20" name="Shape 18"/>
          <p:cNvSpPr/>
          <p:nvPr/>
        </p:nvSpPr>
        <p:spPr>
          <a:xfrm>
            <a:off x="685800" y="4965192"/>
            <a:ext cx="502920" cy="502920"/>
          </a:xfrm>
          <a:prstGeom prst="ellipse">
            <a:avLst/>
          </a:prstGeom>
          <a:solidFill>
            <a:srgbClr val="1A3C5E"/>
          </a:solidFill>
          <a:ln/>
        </p:spPr>
        <p:txBody>
          <a:bodyPr/>
          <a:lstStyle/>
          <a:p>
            <a:endParaRPr lang="en-001"/>
          </a:p>
        </p:txBody>
      </p:sp>
      <p:sp>
        <p:nvSpPr>
          <p:cNvPr id="21" name="Text 19"/>
          <p:cNvSpPr/>
          <p:nvPr/>
        </p:nvSpPr>
        <p:spPr>
          <a:xfrm>
            <a:off x="685800" y="4965192"/>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4</a:t>
            </a:r>
            <a:endParaRPr lang="en-US" sz="1600" dirty="0"/>
          </a:p>
        </p:txBody>
      </p:sp>
      <p:sp>
        <p:nvSpPr>
          <p:cNvPr id="22" name="Shape 20"/>
          <p:cNvSpPr/>
          <p:nvPr/>
        </p:nvSpPr>
        <p:spPr>
          <a:xfrm>
            <a:off x="1417320" y="4855464"/>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23" name="Text 21"/>
          <p:cNvSpPr/>
          <p:nvPr/>
        </p:nvSpPr>
        <p:spPr>
          <a:xfrm>
            <a:off x="1645920" y="4928616"/>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Migrate to cloud ERP / upgrade core system</a:t>
            </a:r>
            <a:endParaRPr lang="en-US" sz="1400" dirty="0"/>
          </a:p>
        </p:txBody>
      </p:sp>
      <p:sp>
        <p:nvSpPr>
          <p:cNvPr id="24" name="Text 22"/>
          <p:cNvSpPr/>
          <p:nvPr/>
        </p:nvSpPr>
        <p:spPr>
          <a:xfrm>
            <a:off x="1645920" y="5239512"/>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Highest impact, highest effort — runs as its own governed project.</a:t>
            </a:r>
            <a:endParaRPr lang="en-US" sz="1150" dirty="0"/>
          </a:p>
        </p:txBody>
      </p:sp>
      <p:sp>
        <p:nvSpPr>
          <p:cNvPr id="25" name="Text 23"/>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26" name="Text 2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PHASE 3 · MONTHS 9–12</a:t>
            </a:r>
            <a:endParaRPr lang="en-US" sz="11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Scale &amp; Optimise</a:t>
            </a:r>
            <a:endParaRPr lang="en-US" sz="2800" dirty="0"/>
          </a:p>
        </p:txBody>
      </p:sp>
      <p:sp>
        <p:nvSpPr>
          <p:cNvPr id="4" name="Text 2"/>
          <p:cNvSpPr/>
          <p:nvPr/>
        </p:nvSpPr>
        <p:spPr>
          <a:xfrm>
            <a:off x="640080" y="1371600"/>
            <a:ext cx="10515600" cy="45720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Complex, cross-functional projects that close out the programme and lock in the operating model.</a:t>
            </a:r>
            <a:endParaRPr lang="en-US" sz="1300" dirty="0"/>
          </a:p>
        </p:txBody>
      </p:sp>
      <p:sp>
        <p:nvSpPr>
          <p:cNvPr id="5" name="Shape 3"/>
          <p:cNvSpPr/>
          <p:nvPr/>
        </p:nvSpPr>
        <p:spPr>
          <a:xfrm>
            <a:off x="685800" y="2167128"/>
            <a:ext cx="502920" cy="502920"/>
          </a:xfrm>
          <a:prstGeom prst="ellipse">
            <a:avLst/>
          </a:prstGeom>
          <a:solidFill>
            <a:srgbClr val="C07A2D"/>
          </a:solidFill>
          <a:ln/>
        </p:spPr>
        <p:txBody>
          <a:bodyPr/>
          <a:lstStyle/>
          <a:p>
            <a:endParaRPr lang="en-001"/>
          </a:p>
        </p:txBody>
      </p:sp>
      <p:sp>
        <p:nvSpPr>
          <p:cNvPr id="6" name="Text 4"/>
          <p:cNvSpPr/>
          <p:nvPr/>
        </p:nvSpPr>
        <p:spPr>
          <a:xfrm>
            <a:off x="685800" y="2167128"/>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1</a:t>
            </a:r>
            <a:endParaRPr lang="en-US" sz="1600" dirty="0"/>
          </a:p>
        </p:txBody>
      </p:sp>
      <p:sp>
        <p:nvSpPr>
          <p:cNvPr id="7" name="Shape 5"/>
          <p:cNvSpPr/>
          <p:nvPr/>
        </p:nvSpPr>
        <p:spPr>
          <a:xfrm>
            <a:off x="1417320" y="2057400"/>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8" name="Text 6"/>
          <p:cNvSpPr/>
          <p:nvPr/>
        </p:nvSpPr>
        <p:spPr>
          <a:xfrm>
            <a:off x="1645920" y="2130552"/>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Automate variance analysis &amp; flux reporting</a:t>
            </a:r>
            <a:endParaRPr lang="en-US" sz="1400" dirty="0"/>
          </a:p>
        </p:txBody>
      </p:sp>
      <p:sp>
        <p:nvSpPr>
          <p:cNvPr id="9" name="Text 7"/>
          <p:cNvSpPr/>
          <p:nvPr/>
        </p:nvSpPr>
        <p:spPr>
          <a:xfrm>
            <a:off x="1645920" y="2441448"/>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Pairs naturally with the BI dashboard work from Phase 2.</a:t>
            </a:r>
            <a:endParaRPr lang="en-US" sz="1150" dirty="0"/>
          </a:p>
        </p:txBody>
      </p:sp>
      <p:sp>
        <p:nvSpPr>
          <p:cNvPr id="10" name="Shape 8"/>
          <p:cNvSpPr/>
          <p:nvPr/>
        </p:nvSpPr>
        <p:spPr>
          <a:xfrm>
            <a:off x="685800" y="3099816"/>
            <a:ext cx="502920" cy="502920"/>
          </a:xfrm>
          <a:prstGeom prst="ellipse">
            <a:avLst/>
          </a:prstGeom>
          <a:solidFill>
            <a:srgbClr val="C07A2D"/>
          </a:solidFill>
          <a:ln/>
        </p:spPr>
        <p:txBody>
          <a:bodyPr/>
          <a:lstStyle/>
          <a:p>
            <a:endParaRPr lang="en-001"/>
          </a:p>
        </p:txBody>
      </p:sp>
      <p:sp>
        <p:nvSpPr>
          <p:cNvPr id="11" name="Text 9"/>
          <p:cNvSpPr/>
          <p:nvPr/>
        </p:nvSpPr>
        <p:spPr>
          <a:xfrm>
            <a:off x="685800" y="3099816"/>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2</a:t>
            </a:r>
            <a:endParaRPr lang="en-US" sz="1600" dirty="0"/>
          </a:p>
        </p:txBody>
      </p:sp>
      <p:sp>
        <p:nvSpPr>
          <p:cNvPr id="12" name="Shape 10"/>
          <p:cNvSpPr/>
          <p:nvPr/>
        </p:nvSpPr>
        <p:spPr>
          <a:xfrm>
            <a:off x="1417320" y="2990088"/>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3" name="Text 11"/>
          <p:cNvSpPr/>
          <p:nvPr/>
        </p:nvSpPr>
        <p:spPr>
          <a:xfrm>
            <a:off x="1645920" y="3063240"/>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Financial data warehouse / single source of truth</a:t>
            </a:r>
            <a:endParaRPr lang="en-US" sz="1400" dirty="0"/>
          </a:p>
        </p:txBody>
      </p:sp>
      <p:sp>
        <p:nvSpPr>
          <p:cNvPr id="14" name="Text 12"/>
          <p:cNvSpPr/>
          <p:nvPr/>
        </p:nvSpPr>
        <p:spPr>
          <a:xfrm>
            <a:off x="1645920" y="3374136"/>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Foundational for everything else — sequenced carefully, not first.</a:t>
            </a:r>
            <a:endParaRPr lang="en-US" sz="1150" dirty="0"/>
          </a:p>
        </p:txBody>
      </p:sp>
      <p:sp>
        <p:nvSpPr>
          <p:cNvPr id="15" name="Shape 13"/>
          <p:cNvSpPr/>
          <p:nvPr/>
        </p:nvSpPr>
        <p:spPr>
          <a:xfrm>
            <a:off x="685800" y="4032504"/>
            <a:ext cx="502920" cy="502920"/>
          </a:xfrm>
          <a:prstGeom prst="ellipse">
            <a:avLst/>
          </a:prstGeom>
          <a:solidFill>
            <a:srgbClr val="C07A2D"/>
          </a:solidFill>
          <a:ln/>
        </p:spPr>
        <p:txBody>
          <a:bodyPr/>
          <a:lstStyle/>
          <a:p>
            <a:endParaRPr lang="en-001"/>
          </a:p>
        </p:txBody>
      </p:sp>
      <p:sp>
        <p:nvSpPr>
          <p:cNvPr id="16" name="Text 14"/>
          <p:cNvSpPr/>
          <p:nvPr/>
        </p:nvSpPr>
        <p:spPr>
          <a:xfrm>
            <a:off x="685800" y="4032504"/>
            <a:ext cx="502920" cy="502920"/>
          </a:xfrm>
          <a:prstGeom prst="rect">
            <a:avLst/>
          </a:prstGeom>
          <a:noFill/>
          <a:ln/>
        </p:spPr>
        <p:txBody>
          <a:bodyPr wrap="square" rtlCol="0" anchor="ctr"/>
          <a:lstStyle/>
          <a:p>
            <a:pPr marL="0" indent="0" algn="ctr">
              <a:buNone/>
            </a:pPr>
            <a:r>
              <a:rPr lang="en-US" sz="1600" b="1" dirty="0">
                <a:solidFill>
                  <a:srgbClr val="FFFFFF"/>
                </a:solidFill>
                <a:latin typeface="Bookman Old Style" pitchFamily="34" charset="0"/>
                <a:ea typeface="Bookman Old Style" pitchFamily="34" charset="-122"/>
                <a:cs typeface="Bookman Old Style" pitchFamily="34" charset="-120"/>
              </a:rPr>
              <a:t>3</a:t>
            </a:r>
            <a:endParaRPr lang="en-US" sz="1600" dirty="0"/>
          </a:p>
        </p:txBody>
      </p:sp>
      <p:sp>
        <p:nvSpPr>
          <p:cNvPr id="17" name="Shape 15"/>
          <p:cNvSpPr/>
          <p:nvPr/>
        </p:nvSpPr>
        <p:spPr>
          <a:xfrm>
            <a:off x="1417320" y="3922776"/>
            <a:ext cx="9966960" cy="795528"/>
          </a:xfrm>
          <a:prstGeom prst="roundRect">
            <a:avLst>
              <a:gd name="adj" fmla="val 6897"/>
            </a:avLst>
          </a:prstGeom>
          <a:solidFill>
            <a:srgbClr val="FFFFFF"/>
          </a:solidFill>
          <a:ln w="9525">
            <a:solidFill>
              <a:srgbClr val="CBD5E0"/>
            </a:solidFill>
            <a:prstDash val="solid"/>
          </a:ln>
        </p:spPr>
        <p:txBody>
          <a:bodyPr/>
          <a:lstStyle/>
          <a:p>
            <a:endParaRPr lang="en-001"/>
          </a:p>
        </p:txBody>
      </p:sp>
      <p:sp>
        <p:nvSpPr>
          <p:cNvPr id="18" name="Text 16"/>
          <p:cNvSpPr/>
          <p:nvPr/>
        </p:nvSpPr>
        <p:spPr>
          <a:xfrm>
            <a:off x="1645920" y="3995928"/>
            <a:ext cx="950976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Implement continuous close practices</a:t>
            </a:r>
            <a:endParaRPr lang="en-US" sz="1400" dirty="0"/>
          </a:p>
        </p:txBody>
      </p:sp>
      <p:sp>
        <p:nvSpPr>
          <p:cNvPr id="19" name="Text 17"/>
          <p:cNvSpPr/>
          <p:nvPr/>
        </p:nvSpPr>
        <p:spPr>
          <a:xfrm>
            <a:off x="1645920" y="4306824"/>
            <a:ext cx="950976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Cultural and process change, not just a tool rollout.</a:t>
            </a:r>
            <a:endParaRPr lang="en-US" sz="1150" dirty="0"/>
          </a:p>
        </p:txBody>
      </p:sp>
      <p:sp>
        <p:nvSpPr>
          <p:cNvPr id="20" name="Text 18"/>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21" name="Text 19"/>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RESOURCE REQUIREMENTS</a:t>
            </a:r>
            <a:endParaRPr lang="en-US" sz="1100" dirty="0"/>
          </a:p>
        </p:txBody>
      </p:sp>
      <p:sp>
        <p:nvSpPr>
          <p:cNvPr id="3" name="Text 1"/>
          <p:cNvSpPr/>
          <p:nvPr/>
        </p:nvSpPr>
        <p:spPr>
          <a:xfrm>
            <a:off x="640080" y="777240"/>
            <a:ext cx="105156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What This Roadmap Actually Costs</a:t>
            </a:r>
            <a:endParaRPr lang="en-US" sz="2800" dirty="0"/>
          </a:p>
        </p:txBody>
      </p:sp>
      <p:sp>
        <p:nvSpPr>
          <p:cNvPr id="4" name="Shape 2"/>
          <p:cNvSpPr/>
          <p:nvPr/>
        </p:nvSpPr>
        <p:spPr>
          <a:xfrm>
            <a:off x="640080" y="1691640"/>
            <a:ext cx="2514600" cy="1920240"/>
          </a:xfrm>
          <a:prstGeom prst="roundRect">
            <a:avLst>
              <a:gd name="adj" fmla="val 3810"/>
            </a:avLst>
          </a:prstGeom>
          <a:solidFill>
            <a:srgbClr val="F7F3ED"/>
          </a:solidFill>
          <a:ln w="9525">
            <a:solidFill>
              <a:srgbClr val="CBD5E0"/>
            </a:solidFill>
            <a:prstDash val="solid"/>
          </a:ln>
        </p:spPr>
        <p:txBody>
          <a:bodyPr/>
          <a:lstStyle/>
          <a:p>
            <a:endParaRPr lang="en-001"/>
          </a:p>
        </p:txBody>
      </p:sp>
      <p:sp>
        <p:nvSpPr>
          <p:cNvPr id="5" name="Text 3"/>
          <p:cNvSpPr/>
          <p:nvPr/>
        </p:nvSpPr>
        <p:spPr>
          <a:xfrm>
            <a:off x="640080" y="1965960"/>
            <a:ext cx="2514600" cy="822960"/>
          </a:xfrm>
          <a:prstGeom prst="rect">
            <a:avLst/>
          </a:prstGeom>
          <a:noFill/>
          <a:ln/>
        </p:spPr>
        <p:txBody>
          <a:bodyPr wrap="square" rtlCol="0" anchor="ctr"/>
          <a:lstStyle/>
          <a:p>
            <a:pPr marL="0" indent="0" algn="ctr">
              <a:buNone/>
            </a:pPr>
            <a:r>
              <a:rPr lang="en-US" sz="2800" b="1" dirty="0">
                <a:solidFill>
                  <a:srgbClr val="C07A2D"/>
                </a:solidFill>
                <a:latin typeface="Bookman Old Style" pitchFamily="34" charset="0"/>
                <a:ea typeface="Bookman Old Style" pitchFamily="34" charset="-122"/>
                <a:cs typeface="Bookman Old Style" pitchFamily="34" charset="-120"/>
              </a:rPr>
              <a:t>$497K</a:t>
            </a:r>
            <a:endParaRPr lang="en-US" sz="2800" dirty="0"/>
          </a:p>
        </p:txBody>
      </p:sp>
      <p:sp>
        <p:nvSpPr>
          <p:cNvPr id="6" name="Text 4"/>
          <p:cNvSpPr/>
          <p:nvPr/>
        </p:nvSpPr>
        <p:spPr>
          <a:xfrm>
            <a:off x="777240" y="2834640"/>
            <a:ext cx="2240280" cy="640080"/>
          </a:xfrm>
          <a:prstGeom prst="rect">
            <a:avLst/>
          </a:prstGeom>
          <a:noFill/>
          <a:ln/>
        </p:spPr>
        <p:txBody>
          <a:bodyPr wrap="square" rtlCol="0" anchor="ctr"/>
          <a:lstStyle/>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Total Programme</a:t>
            </a:r>
            <a:endParaRPr lang="en-US" sz="1200" dirty="0"/>
          </a:p>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Cost</a:t>
            </a:r>
            <a:endParaRPr lang="en-US" sz="1200" dirty="0"/>
          </a:p>
        </p:txBody>
      </p:sp>
      <p:sp>
        <p:nvSpPr>
          <p:cNvPr id="7" name="Shape 5"/>
          <p:cNvSpPr/>
          <p:nvPr/>
        </p:nvSpPr>
        <p:spPr>
          <a:xfrm>
            <a:off x="3474720" y="1691640"/>
            <a:ext cx="2514600" cy="1920240"/>
          </a:xfrm>
          <a:prstGeom prst="roundRect">
            <a:avLst>
              <a:gd name="adj" fmla="val 3810"/>
            </a:avLst>
          </a:prstGeom>
          <a:solidFill>
            <a:srgbClr val="F7F3ED"/>
          </a:solidFill>
          <a:ln w="9525">
            <a:solidFill>
              <a:srgbClr val="CBD5E0"/>
            </a:solidFill>
            <a:prstDash val="solid"/>
          </a:ln>
        </p:spPr>
        <p:txBody>
          <a:bodyPr/>
          <a:lstStyle/>
          <a:p>
            <a:endParaRPr lang="en-001"/>
          </a:p>
        </p:txBody>
      </p:sp>
      <p:sp>
        <p:nvSpPr>
          <p:cNvPr id="8" name="Text 6"/>
          <p:cNvSpPr/>
          <p:nvPr/>
        </p:nvSpPr>
        <p:spPr>
          <a:xfrm>
            <a:off x="3474720" y="1965960"/>
            <a:ext cx="2514600" cy="822960"/>
          </a:xfrm>
          <a:prstGeom prst="rect">
            <a:avLst/>
          </a:prstGeom>
          <a:noFill/>
          <a:ln/>
        </p:spPr>
        <p:txBody>
          <a:bodyPr wrap="square" rtlCol="0" anchor="ctr"/>
          <a:lstStyle/>
          <a:p>
            <a:pPr marL="0" indent="0" algn="ctr">
              <a:buNone/>
            </a:pPr>
            <a:r>
              <a:rPr lang="en-US" sz="2800" b="1" dirty="0">
                <a:solidFill>
                  <a:srgbClr val="C07A2D"/>
                </a:solidFill>
                <a:latin typeface="Bookman Old Style" pitchFamily="34" charset="0"/>
                <a:ea typeface="Bookman Old Style" pitchFamily="34" charset="-122"/>
                <a:cs typeface="Bookman Old Style" pitchFamily="34" charset="-120"/>
              </a:rPr>
              <a:t>116</a:t>
            </a:r>
            <a:endParaRPr lang="en-US" sz="2800" dirty="0"/>
          </a:p>
        </p:txBody>
      </p:sp>
      <p:sp>
        <p:nvSpPr>
          <p:cNvPr id="9" name="Text 7"/>
          <p:cNvSpPr/>
          <p:nvPr/>
        </p:nvSpPr>
        <p:spPr>
          <a:xfrm>
            <a:off x="3611880" y="2834640"/>
            <a:ext cx="2240280" cy="640080"/>
          </a:xfrm>
          <a:prstGeom prst="rect">
            <a:avLst/>
          </a:prstGeom>
          <a:noFill/>
          <a:ln/>
        </p:spPr>
        <p:txBody>
          <a:bodyPr wrap="square" rtlCol="0" anchor="ctr"/>
          <a:lstStyle/>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Internal FTE Hours</a:t>
            </a:r>
            <a:endParaRPr lang="en-US" sz="1200" dirty="0"/>
          </a:p>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per Week</a:t>
            </a:r>
            <a:endParaRPr lang="en-US" sz="1200" dirty="0"/>
          </a:p>
        </p:txBody>
      </p:sp>
      <p:sp>
        <p:nvSpPr>
          <p:cNvPr id="10" name="Shape 8"/>
          <p:cNvSpPr/>
          <p:nvPr/>
        </p:nvSpPr>
        <p:spPr>
          <a:xfrm>
            <a:off x="6309360" y="1691640"/>
            <a:ext cx="2514600" cy="1920240"/>
          </a:xfrm>
          <a:prstGeom prst="roundRect">
            <a:avLst>
              <a:gd name="adj" fmla="val 3810"/>
            </a:avLst>
          </a:prstGeom>
          <a:solidFill>
            <a:srgbClr val="F7F3ED"/>
          </a:solidFill>
          <a:ln w="9525">
            <a:solidFill>
              <a:srgbClr val="CBD5E0"/>
            </a:solidFill>
            <a:prstDash val="solid"/>
          </a:ln>
        </p:spPr>
        <p:txBody>
          <a:bodyPr/>
          <a:lstStyle/>
          <a:p>
            <a:endParaRPr lang="en-001"/>
          </a:p>
        </p:txBody>
      </p:sp>
      <p:sp>
        <p:nvSpPr>
          <p:cNvPr id="11" name="Text 9"/>
          <p:cNvSpPr/>
          <p:nvPr/>
        </p:nvSpPr>
        <p:spPr>
          <a:xfrm>
            <a:off x="6309360" y="1965960"/>
            <a:ext cx="2514600" cy="822960"/>
          </a:xfrm>
          <a:prstGeom prst="rect">
            <a:avLst/>
          </a:prstGeom>
          <a:noFill/>
          <a:ln/>
        </p:spPr>
        <p:txBody>
          <a:bodyPr wrap="square" rtlCol="0" anchor="ctr"/>
          <a:lstStyle/>
          <a:p>
            <a:pPr marL="0" indent="0" algn="ctr">
              <a:buNone/>
            </a:pPr>
            <a:r>
              <a:rPr lang="en-US" sz="2800" b="1" dirty="0">
                <a:solidFill>
                  <a:srgbClr val="C07A2D"/>
                </a:solidFill>
                <a:latin typeface="Bookman Old Style" pitchFamily="34" charset="0"/>
                <a:ea typeface="Bookman Old Style" pitchFamily="34" charset="-122"/>
                <a:cs typeface="Bookman Old Style" pitchFamily="34" charset="-120"/>
              </a:rPr>
              <a:t>$313K</a:t>
            </a:r>
            <a:endParaRPr lang="en-US" sz="2800" dirty="0"/>
          </a:p>
        </p:txBody>
      </p:sp>
      <p:sp>
        <p:nvSpPr>
          <p:cNvPr id="12" name="Text 10"/>
          <p:cNvSpPr/>
          <p:nvPr/>
        </p:nvSpPr>
        <p:spPr>
          <a:xfrm>
            <a:off x="6446520" y="2834640"/>
            <a:ext cx="2240280" cy="640080"/>
          </a:xfrm>
          <a:prstGeom prst="rect">
            <a:avLst/>
          </a:prstGeom>
          <a:noFill/>
          <a:ln/>
        </p:spPr>
        <p:txBody>
          <a:bodyPr wrap="square" rtlCol="0" anchor="ctr"/>
          <a:lstStyle/>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External / Vendor</a:t>
            </a:r>
            <a:endParaRPr lang="en-US" sz="1200" dirty="0"/>
          </a:p>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Cost</a:t>
            </a:r>
            <a:endParaRPr lang="en-US" sz="1200" dirty="0"/>
          </a:p>
        </p:txBody>
      </p:sp>
      <p:sp>
        <p:nvSpPr>
          <p:cNvPr id="13" name="Shape 11"/>
          <p:cNvSpPr/>
          <p:nvPr/>
        </p:nvSpPr>
        <p:spPr>
          <a:xfrm>
            <a:off x="9144000" y="1691640"/>
            <a:ext cx="2514600" cy="1920240"/>
          </a:xfrm>
          <a:prstGeom prst="roundRect">
            <a:avLst>
              <a:gd name="adj" fmla="val 3810"/>
            </a:avLst>
          </a:prstGeom>
          <a:solidFill>
            <a:srgbClr val="F7F3ED"/>
          </a:solidFill>
          <a:ln w="9525">
            <a:solidFill>
              <a:srgbClr val="CBD5E0"/>
            </a:solidFill>
            <a:prstDash val="solid"/>
          </a:ln>
        </p:spPr>
        <p:txBody>
          <a:bodyPr/>
          <a:lstStyle/>
          <a:p>
            <a:endParaRPr lang="en-001"/>
          </a:p>
        </p:txBody>
      </p:sp>
      <p:sp>
        <p:nvSpPr>
          <p:cNvPr id="14" name="Text 12"/>
          <p:cNvSpPr/>
          <p:nvPr/>
        </p:nvSpPr>
        <p:spPr>
          <a:xfrm>
            <a:off x="9144000" y="1965960"/>
            <a:ext cx="2514600" cy="822960"/>
          </a:xfrm>
          <a:prstGeom prst="rect">
            <a:avLst/>
          </a:prstGeom>
          <a:noFill/>
          <a:ln/>
        </p:spPr>
        <p:txBody>
          <a:bodyPr wrap="square" rtlCol="0" anchor="ctr"/>
          <a:lstStyle/>
          <a:p>
            <a:pPr marL="0" indent="0" algn="ctr">
              <a:buNone/>
            </a:pPr>
            <a:r>
              <a:rPr lang="en-US" sz="2800" b="1" dirty="0">
                <a:solidFill>
                  <a:srgbClr val="C07A2D"/>
                </a:solidFill>
                <a:latin typeface="Bookman Old Style" pitchFamily="34" charset="0"/>
                <a:ea typeface="Bookman Old Style" pitchFamily="34" charset="-122"/>
                <a:cs typeface="Bookman Old Style" pitchFamily="34" charset="-120"/>
              </a:rPr>
              <a:t>$184K</a:t>
            </a:r>
            <a:endParaRPr lang="en-US" sz="2800" dirty="0"/>
          </a:p>
        </p:txBody>
      </p:sp>
      <p:sp>
        <p:nvSpPr>
          <p:cNvPr id="15" name="Text 13"/>
          <p:cNvSpPr/>
          <p:nvPr/>
        </p:nvSpPr>
        <p:spPr>
          <a:xfrm>
            <a:off x="9281160" y="2834640"/>
            <a:ext cx="2240280" cy="640080"/>
          </a:xfrm>
          <a:prstGeom prst="rect">
            <a:avLst/>
          </a:prstGeom>
          <a:noFill/>
          <a:ln/>
        </p:spPr>
        <p:txBody>
          <a:bodyPr wrap="square" rtlCol="0" anchor="ctr"/>
          <a:lstStyle/>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Software / Tool</a:t>
            </a:r>
            <a:endParaRPr lang="en-US" sz="1200" dirty="0"/>
          </a:p>
          <a:p>
            <a:pPr marL="0" indent="0" algn="ctr">
              <a:lnSpc>
                <a:spcPct val="110000"/>
              </a:lnSpc>
              <a:buNone/>
            </a:pPr>
            <a:r>
              <a:rPr lang="en-US" sz="1200" dirty="0">
                <a:solidFill>
                  <a:srgbClr val="2D3748"/>
                </a:solidFill>
                <a:latin typeface="Calibri" pitchFamily="34" charset="0"/>
                <a:ea typeface="Calibri" pitchFamily="34" charset="-122"/>
                <a:cs typeface="Calibri" pitchFamily="34" charset="-120"/>
              </a:rPr>
              <a:t>Cost</a:t>
            </a:r>
            <a:endParaRPr lang="en-US" sz="1200" dirty="0"/>
          </a:p>
        </p:txBody>
      </p:sp>
      <p:sp>
        <p:nvSpPr>
          <p:cNvPr id="16" name="Text 14"/>
          <p:cNvSpPr/>
          <p:nvPr/>
        </p:nvSpPr>
        <p:spPr>
          <a:xfrm>
            <a:off x="640080" y="3931920"/>
            <a:ext cx="5486400" cy="36576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Investment by Priority Tier</a:t>
            </a:r>
            <a:endParaRPr lang="en-US" sz="1500" dirty="0"/>
          </a:p>
        </p:txBody>
      </p:sp>
      <p:sp>
        <p:nvSpPr>
          <p:cNvPr id="17" name="Text 15"/>
          <p:cNvSpPr/>
          <p:nvPr/>
        </p:nvSpPr>
        <p:spPr>
          <a:xfrm>
            <a:off x="640080" y="4434840"/>
            <a:ext cx="2011680" cy="365760"/>
          </a:xfrm>
          <a:prstGeom prst="rect">
            <a:avLst/>
          </a:prstGeom>
          <a:noFill/>
          <a:ln/>
        </p:spPr>
        <p:txBody>
          <a:bodyPr wrap="square" rtlCol="0" anchor="ctr"/>
          <a:lstStyle/>
          <a:p>
            <a:pPr marL="0" indent="0">
              <a:buNone/>
            </a:pPr>
            <a:r>
              <a:rPr lang="en-US" sz="1250" b="1" dirty="0">
                <a:solidFill>
                  <a:srgbClr val="2D3748"/>
                </a:solidFill>
                <a:latin typeface="Calibri" pitchFamily="34" charset="0"/>
                <a:ea typeface="Calibri" pitchFamily="34" charset="-122"/>
                <a:cs typeface="Calibri" pitchFamily="34" charset="-120"/>
              </a:rPr>
              <a:t>Quick Win</a:t>
            </a:r>
            <a:endParaRPr lang="en-US" sz="1250" dirty="0"/>
          </a:p>
        </p:txBody>
      </p:sp>
      <p:sp>
        <p:nvSpPr>
          <p:cNvPr id="18" name="Shape 16"/>
          <p:cNvSpPr/>
          <p:nvPr/>
        </p:nvSpPr>
        <p:spPr>
          <a:xfrm>
            <a:off x="2743200" y="4480560"/>
            <a:ext cx="7315200" cy="274320"/>
          </a:xfrm>
          <a:prstGeom prst="rect">
            <a:avLst/>
          </a:prstGeom>
          <a:solidFill>
            <a:srgbClr val="F0F0F0"/>
          </a:solidFill>
          <a:ln/>
        </p:spPr>
        <p:txBody>
          <a:bodyPr/>
          <a:lstStyle/>
          <a:p>
            <a:endParaRPr lang="en-001"/>
          </a:p>
        </p:txBody>
      </p:sp>
      <p:sp>
        <p:nvSpPr>
          <p:cNvPr id="19" name="Shape 17"/>
          <p:cNvSpPr/>
          <p:nvPr/>
        </p:nvSpPr>
        <p:spPr>
          <a:xfrm>
            <a:off x="2743200" y="4480560"/>
            <a:ext cx="529980" cy="274320"/>
          </a:xfrm>
          <a:prstGeom prst="rect">
            <a:avLst/>
          </a:prstGeom>
          <a:solidFill>
            <a:srgbClr val="1E6B4A"/>
          </a:solidFill>
          <a:ln/>
        </p:spPr>
        <p:txBody>
          <a:bodyPr/>
          <a:lstStyle/>
          <a:p>
            <a:endParaRPr lang="en-001"/>
          </a:p>
        </p:txBody>
      </p:sp>
      <p:sp>
        <p:nvSpPr>
          <p:cNvPr id="20" name="Text 18"/>
          <p:cNvSpPr/>
          <p:nvPr/>
        </p:nvSpPr>
        <p:spPr>
          <a:xfrm>
            <a:off x="10195560" y="4434840"/>
            <a:ext cx="1371600" cy="365760"/>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$36K  (7%)</a:t>
            </a:r>
            <a:endParaRPr lang="en-US" sz="1150" dirty="0"/>
          </a:p>
        </p:txBody>
      </p:sp>
      <p:sp>
        <p:nvSpPr>
          <p:cNvPr id="21" name="Text 19"/>
          <p:cNvSpPr/>
          <p:nvPr/>
        </p:nvSpPr>
        <p:spPr>
          <a:xfrm>
            <a:off x="640080" y="4937760"/>
            <a:ext cx="2011680" cy="365760"/>
          </a:xfrm>
          <a:prstGeom prst="rect">
            <a:avLst/>
          </a:prstGeom>
          <a:noFill/>
          <a:ln/>
        </p:spPr>
        <p:txBody>
          <a:bodyPr wrap="square" rtlCol="0" anchor="ctr"/>
          <a:lstStyle/>
          <a:p>
            <a:pPr marL="0" indent="0">
              <a:buNone/>
            </a:pPr>
            <a:r>
              <a:rPr lang="en-US" sz="1250" b="1" dirty="0">
                <a:solidFill>
                  <a:srgbClr val="2D3748"/>
                </a:solidFill>
                <a:latin typeface="Calibri" pitchFamily="34" charset="0"/>
                <a:ea typeface="Calibri" pitchFamily="34" charset="-122"/>
                <a:cs typeface="Calibri" pitchFamily="34" charset="-120"/>
              </a:rPr>
              <a:t>Major Project</a:t>
            </a:r>
            <a:endParaRPr lang="en-US" sz="1250" dirty="0"/>
          </a:p>
        </p:txBody>
      </p:sp>
      <p:sp>
        <p:nvSpPr>
          <p:cNvPr id="22" name="Shape 20"/>
          <p:cNvSpPr/>
          <p:nvPr/>
        </p:nvSpPr>
        <p:spPr>
          <a:xfrm>
            <a:off x="2743200" y="4983480"/>
            <a:ext cx="7315200" cy="274320"/>
          </a:xfrm>
          <a:prstGeom prst="rect">
            <a:avLst/>
          </a:prstGeom>
          <a:solidFill>
            <a:srgbClr val="F0F0F0"/>
          </a:solidFill>
          <a:ln/>
        </p:spPr>
        <p:txBody>
          <a:bodyPr/>
          <a:lstStyle/>
          <a:p>
            <a:endParaRPr lang="en-001"/>
          </a:p>
        </p:txBody>
      </p:sp>
      <p:sp>
        <p:nvSpPr>
          <p:cNvPr id="23" name="Shape 21"/>
          <p:cNvSpPr/>
          <p:nvPr/>
        </p:nvSpPr>
        <p:spPr>
          <a:xfrm>
            <a:off x="2743200" y="4983480"/>
            <a:ext cx="6506980" cy="274320"/>
          </a:xfrm>
          <a:prstGeom prst="rect">
            <a:avLst/>
          </a:prstGeom>
          <a:solidFill>
            <a:srgbClr val="1A3C5E"/>
          </a:solidFill>
          <a:ln/>
        </p:spPr>
        <p:txBody>
          <a:bodyPr/>
          <a:lstStyle/>
          <a:p>
            <a:endParaRPr lang="en-001"/>
          </a:p>
        </p:txBody>
      </p:sp>
      <p:sp>
        <p:nvSpPr>
          <p:cNvPr id="24" name="Text 22"/>
          <p:cNvSpPr/>
          <p:nvPr/>
        </p:nvSpPr>
        <p:spPr>
          <a:xfrm>
            <a:off x="10195560" y="4937760"/>
            <a:ext cx="1371600" cy="365760"/>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$442K  (89%)</a:t>
            </a:r>
            <a:endParaRPr lang="en-US" sz="1150" dirty="0"/>
          </a:p>
        </p:txBody>
      </p:sp>
      <p:sp>
        <p:nvSpPr>
          <p:cNvPr id="25" name="Text 23"/>
          <p:cNvSpPr/>
          <p:nvPr/>
        </p:nvSpPr>
        <p:spPr>
          <a:xfrm>
            <a:off x="640080" y="5440680"/>
            <a:ext cx="2011680" cy="365760"/>
          </a:xfrm>
          <a:prstGeom prst="rect">
            <a:avLst/>
          </a:prstGeom>
          <a:noFill/>
          <a:ln/>
        </p:spPr>
        <p:txBody>
          <a:bodyPr wrap="square" rtlCol="0" anchor="ctr"/>
          <a:lstStyle/>
          <a:p>
            <a:pPr marL="0" indent="0">
              <a:buNone/>
            </a:pPr>
            <a:r>
              <a:rPr lang="en-US" sz="1250" b="1" dirty="0">
                <a:solidFill>
                  <a:srgbClr val="2D3748"/>
                </a:solidFill>
                <a:latin typeface="Calibri" pitchFamily="34" charset="0"/>
                <a:ea typeface="Calibri" pitchFamily="34" charset="-122"/>
                <a:cs typeface="Calibri" pitchFamily="34" charset="-120"/>
              </a:rPr>
              <a:t>Fill-In</a:t>
            </a:r>
            <a:endParaRPr lang="en-US" sz="1250" dirty="0"/>
          </a:p>
        </p:txBody>
      </p:sp>
      <p:sp>
        <p:nvSpPr>
          <p:cNvPr id="26" name="Shape 24"/>
          <p:cNvSpPr/>
          <p:nvPr/>
        </p:nvSpPr>
        <p:spPr>
          <a:xfrm>
            <a:off x="2743200" y="5486400"/>
            <a:ext cx="7315200" cy="274320"/>
          </a:xfrm>
          <a:prstGeom prst="rect">
            <a:avLst/>
          </a:prstGeom>
          <a:solidFill>
            <a:srgbClr val="F0F0F0"/>
          </a:solidFill>
          <a:ln/>
        </p:spPr>
        <p:txBody>
          <a:bodyPr/>
          <a:lstStyle/>
          <a:p>
            <a:endParaRPr lang="en-001"/>
          </a:p>
        </p:txBody>
      </p:sp>
      <p:sp>
        <p:nvSpPr>
          <p:cNvPr id="27" name="Shape 25"/>
          <p:cNvSpPr/>
          <p:nvPr/>
        </p:nvSpPr>
        <p:spPr>
          <a:xfrm>
            <a:off x="2743200" y="5486400"/>
            <a:ext cx="86858" cy="274320"/>
          </a:xfrm>
          <a:prstGeom prst="rect">
            <a:avLst/>
          </a:prstGeom>
          <a:solidFill>
            <a:srgbClr val="C07A2D"/>
          </a:solidFill>
          <a:ln/>
        </p:spPr>
        <p:txBody>
          <a:bodyPr/>
          <a:lstStyle/>
          <a:p>
            <a:endParaRPr lang="en-001"/>
          </a:p>
        </p:txBody>
      </p:sp>
      <p:sp>
        <p:nvSpPr>
          <p:cNvPr id="28" name="Text 26"/>
          <p:cNvSpPr/>
          <p:nvPr/>
        </p:nvSpPr>
        <p:spPr>
          <a:xfrm>
            <a:off x="10195560" y="5440680"/>
            <a:ext cx="1371600" cy="365760"/>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$6K  (1%)</a:t>
            </a:r>
            <a:endParaRPr lang="en-US" sz="1150" dirty="0"/>
          </a:p>
        </p:txBody>
      </p:sp>
      <p:sp>
        <p:nvSpPr>
          <p:cNvPr id="29" name="Text 27"/>
          <p:cNvSpPr/>
          <p:nvPr/>
        </p:nvSpPr>
        <p:spPr>
          <a:xfrm>
            <a:off x="640080" y="5943600"/>
            <a:ext cx="2011680" cy="365760"/>
          </a:xfrm>
          <a:prstGeom prst="rect">
            <a:avLst/>
          </a:prstGeom>
          <a:noFill/>
          <a:ln/>
        </p:spPr>
        <p:txBody>
          <a:bodyPr wrap="square" rtlCol="0" anchor="ctr"/>
          <a:lstStyle/>
          <a:p>
            <a:pPr marL="0" indent="0">
              <a:buNone/>
            </a:pPr>
            <a:r>
              <a:rPr lang="en-US" sz="1250" b="1" dirty="0">
                <a:solidFill>
                  <a:srgbClr val="2D3748"/>
                </a:solidFill>
                <a:latin typeface="Calibri" pitchFamily="34" charset="0"/>
                <a:ea typeface="Calibri" pitchFamily="34" charset="-122"/>
                <a:cs typeface="Calibri" pitchFamily="34" charset="-120"/>
              </a:rPr>
              <a:t>Deprioritise</a:t>
            </a:r>
            <a:endParaRPr lang="en-US" sz="1250" dirty="0"/>
          </a:p>
        </p:txBody>
      </p:sp>
      <p:sp>
        <p:nvSpPr>
          <p:cNvPr id="30" name="Shape 28"/>
          <p:cNvSpPr/>
          <p:nvPr/>
        </p:nvSpPr>
        <p:spPr>
          <a:xfrm>
            <a:off x="2743200" y="5989320"/>
            <a:ext cx="7315200" cy="274320"/>
          </a:xfrm>
          <a:prstGeom prst="rect">
            <a:avLst/>
          </a:prstGeom>
          <a:solidFill>
            <a:srgbClr val="F0F0F0"/>
          </a:solidFill>
          <a:ln/>
        </p:spPr>
        <p:txBody>
          <a:bodyPr/>
          <a:lstStyle/>
          <a:p>
            <a:endParaRPr lang="en-001"/>
          </a:p>
        </p:txBody>
      </p:sp>
      <p:sp>
        <p:nvSpPr>
          <p:cNvPr id="31" name="Shape 29"/>
          <p:cNvSpPr/>
          <p:nvPr/>
        </p:nvSpPr>
        <p:spPr>
          <a:xfrm>
            <a:off x="2743200" y="5989320"/>
            <a:ext cx="191382" cy="274320"/>
          </a:xfrm>
          <a:prstGeom prst="rect">
            <a:avLst/>
          </a:prstGeom>
          <a:solidFill>
            <a:srgbClr val="991B1B"/>
          </a:solidFill>
          <a:ln/>
        </p:spPr>
        <p:txBody>
          <a:bodyPr/>
          <a:lstStyle/>
          <a:p>
            <a:endParaRPr lang="en-001"/>
          </a:p>
        </p:txBody>
      </p:sp>
      <p:sp>
        <p:nvSpPr>
          <p:cNvPr id="32" name="Text 30"/>
          <p:cNvSpPr/>
          <p:nvPr/>
        </p:nvSpPr>
        <p:spPr>
          <a:xfrm>
            <a:off x="10195560" y="5943600"/>
            <a:ext cx="1371600" cy="365760"/>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$13K  (3%)</a:t>
            </a:r>
            <a:endParaRPr lang="en-US" sz="1150" dirty="0"/>
          </a:p>
        </p:txBody>
      </p:sp>
      <p:sp>
        <p:nvSpPr>
          <p:cNvPr id="33" name="Text 31"/>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34" name="Text 32"/>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KPIS &amp; SUCCESS MEASURES</a:t>
            </a:r>
            <a:endParaRPr lang="en-US" sz="11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800" b="1" dirty="0">
                <a:solidFill>
                  <a:srgbClr val="0D1B2A"/>
                </a:solidFill>
                <a:latin typeface="Bookman Old Style" pitchFamily="34" charset="0"/>
                <a:ea typeface="Bookman Old Style" pitchFamily="34" charset="-122"/>
                <a:cs typeface="Bookman Old Style" pitchFamily="34" charset="-120"/>
              </a:rPr>
              <a:t>How We'll Know It's Working</a:t>
            </a:r>
            <a:endParaRPr lang="en-US" sz="2800" dirty="0"/>
          </a:p>
        </p:txBody>
      </p:sp>
      <p:sp>
        <p:nvSpPr>
          <p:cNvPr id="4" name="Text 2"/>
          <p:cNvSpPr/>
          <p:nvPr/>
        </p:nvSpPr>
        <p:spPr>
          <a:xfrm>
            <a:off x="640080" y="1371600"/>
            <a:ext cx="10515600" cy="365760"/>
          </a:xfrm>
          <a:prstGeom prst="rect">
            <a:avLst/>
          </a:prstGeom>
          <a:noFill/>
          <a:ln/>
        </p:spPr>
        <p:txBody>
          <a:bodyPr wrap="square" rtlCol="0" anchor="ctr"/>
          <a:lstStyle/>
          <a:p>
            <a:pPr marL="0" indent="0">
              <a:buNone/>
            </a:pPr>
            <a:r>
              <a:rPr lang="en-US" sz="1250" i="1" dirty="0">
                <a:solidFill>
                  <a:srgbClr val="64748B"/>
                </a:solidFill>
                <a:latin typeface="Calibri" pitchFamily="34" charset="0"/>
                <a:ea typeface="Calibri" pitchFamily="34" charset="-122"/>
                <a:cs typeface="Calibri" pitchFamily="34" charset="-120"/>
              </a:rPr>
              <a:t>Baseline and target for each measure — tracked monthly in the companion workbook's KPI Dashboard.</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4480560"/>
        </p:xfrm>
        <a:graphic>
          <a:graphicData uri="http://schemas.openxmlformats.org/drawingml/2006/table">
            <a:tbl>
              <a:tblPr/>
              <a:tblGrid>
                <a:gridCol w="67665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49784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KPI</a:t>
                      </a:r>
                      <a:endParaRPr lang="en-US" sz="12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 of Month-End Close Tasks Automated</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extLst>
                  <a:ext uri="{0D108BD9-81ED-4DB2-BD59-A6C34878D82A}">
                    <a16:rowId xmlns:a16="http://schemas.microsoft.com/office/drawing/2014/main" val="10001"/>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Days to Close (Calendar Days)</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Manual Journal Entries per Month</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extLst>
                  <a:ext uri="{0D108BD9-81ED-4DB2-BD59-A6C34878D82A}">
                    <a16:rowId xmlns:a16="http://schemas.microsoft.com/office/drawing/2014/main" val="10003"/>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 of Invoices Processed Touchless</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Average Report Generation Time (Hrs)</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extLst>
                  <a:ext uri="{0D108BD9-81ED-4DB2-BD59-A6C34878D82A}">
                    <a16:rowId xmlns:a16="http://schemas.microsoft.com/office/drawing/2014/main" val="10005"/>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Reconciliation Exceptions per Month</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Finance Hours on Manual Entry / Week</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FEAE0"/>
                    </a:solidFill>
                  </a:tcPr>
                </a:tc>
                <a:extLst>
                  <a:ext uri="{0D108BD9-81ED-4DB2-BD59-A6C34878D82A}">
                    <a16:rowId xmlns:a16="http://schemas.microsoft.com/office/drawing/2014/main" val="10007"/>
                  </a:ext>
                </a:extLst>
              </a:tr>
              <a:tr h="497840">
                <a:tc>
                  <a:txBody>
                    <a:bodyPr/>
                    <a:lstStyle/>
                    <a:p>
                      <a:pPr marL="0" indent="0" algn="l">
                        <a:buNone/>
                      </a:pPr>
                      <a:r>
                        <a:rPr lang="en-US" sz="1150" dirty="0">
                          <a:solidFill>
                            <a:srgbClr val="2D3748"/>
                          </a:solidFill>
                          <a:latin typeface="Calibri" pitchFamily="34" charset="0"/>
                          <a:ea typeface="Calibri" pitchFamily="34" charset="-122"/>
                          <a:cs typeface="Calibri" pitchFamily="34" charset="-120"/>
                        </a:rPr>
                        <a:t>% of Forecasts Using Live Data Feeds</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D3748"/>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7" name="Text 4"/>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RISKS &amp; MITIGATIONS</a:t>
            </a:r>
            <a:endParaRPr lang="en-US" sz="1100" dirty="0"/>
          </a:p>
        </p:txBody>
      </p:sp>
      <p:sp>
        <p:nvSpPr>
          <p:cNvPr id="3" name="Text 1"/>
          <p:cNvSpPr/>
          <p:nvPr/>
        </p:nvSpPr>
        <p:spPr>
          <a:xfrm>
            <a:off x="640080" y="777240"/>
            <a:ext cx="10698480" cy="548640"/>
          </a:xfrm>
          <a:prstGeom prst="rect">
            <a:avLst/>
          </a:prstGeom>
          <a:noFill/>
          <a:ln/>
        </p:spPr>
        <p:txBody>
          <a:bodyPr wrap="square" rtlCol="0" anchor="ctr"/>
          <a:lstStyle/>
          <a:p>
            <a:pPr marL="0" indent="0">
              <a:buNone/>
            </a:pPr>
            <a:r>
              <a:rPr lang="en-US" sz="2600" b="1" dirty="0">
                <a:solidFill>
                  <a:srgbClr val="0D1B2A"/>
                </a:solidFill>
                <a:latin typeface="Bookman Old Style" pitchFamily="34" charset="0"/>
                <a:ea typeface="Bookman Old Style" pitchFamily="34" charset="-122"/>
                <a:cs typeface="Bookman Old Style" pitchFamily="34" charset="-120"/>
              </a:rPr>
              <a:t>What Could Go Wrong — and the Plan for It</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4846320"/>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8077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Happens</a:t>
                      </a:r>
                      <a:endParaRPr lang="en-US" sz="120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807720">
                <a:tc>
                  <a:txBody>
                    <a:bodyPr/>
                    <a:lstStyle/>
                    <a:p>
                      <a:pPr marL="0" indent="0">
                        <a:buNone/>
                      </a:pPr>
                      <a:r>
                        <a:rPr lang="en-US" sz="1050" b="1" dirty="0">
                          <a:solidFill>
                            <a:srgbClr val="2D3748"/>
                          </a:solidFill>
                          <a:latin typeface="Calibri" pitchFamily="34" charset="0"/>
                          <a:ea typeface="Calibri" pitchFamily="34" charset="-122"/>
                          <a:cs typeface="Calibri" pitchFamily="34" charset="-120"/>
                        </a:rPr>
                        <a:t>Team capacity constraints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The team can't do this on top of day-to-day close work.</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Sequence Quick Wins first to free up time before tackling Major Projects.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7720">
                <a:tc>
                  <a:txBody>
                    <a:bodyPr/>
                    <a:lstStyle/>
                    <a:p>
                      <a:pPr marL="0" indent="0">
                        <a:buNone/>
                      </a:pPr>
                      <a:r>
                        <a:rPr lang="en-US" sz="1050" b="1" dirty="0">
                          <a:solidFill>
                            <a:srgbClr val="2D3748"/>
                          </a:solidFill>
                          <a:latin typeface="Calibri" pitchFamily="34" charset="0"/>
                          <a:ea typeface="Calibri" pitchFamily="34" charset="-122"/>
                          <a:cs typeface="Calibri" pitchFamily="34" charset="-120"/>
                        </a:rPr>
                        <a:t>Data quality issues surface mid-project</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Automation exposes existing data problems it didn't create.</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Budget time in each initiative specifically for data clean-up, not just tool setup.</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extLst>
                  <a:ext uri="{0D108BD9-81ED-4DB2-BD59-A6C34878D82A}">
                    <a16:rowId xmlns:a16="http://schemas.microsoft.com/office/drawing/2014/main" val="10002"/>
                  </a:ext>
                </a:extLst>
              </a:tr>
              <a:tr h="807720">
                <a:tc>
                  <a:txBody>
                    <a:bodyPr/>
                    <a:lstStyle/>
                    <a:p>
                      <a:pPr marL="0" indent="0">
                        <a:buNone/>
                      </a:pPr>
                      <a:r>
                        <a:rPr lang="en-US" sz="1050" b="1" dirty="0">
                          <a:solidFill>
                            <a:srgbClr val="2D3748"/>
                          </a:solidFill>
                          <a:latin typeface="Calibri" pitchFamily="34" charset="0"/>
                          <a:ea typeface="Calibri" pitchFamily="34" charset="-122"/>
                          <a:cs typeface="Calibri" pitchFamily="34" charset="-120"/>
                        </a:rPr>
                        <a:t>Vendor or implementation delays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External dependencies push back the timeline.</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Build buffer into Major Project durations; avoid daisy-chaining dependent initiatives.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7720">
                <a:tc>
                  <a:txBody>
                    <a:bodyPr/>
                    <a:lstStyle/>
                    <a:p>
                      <a:pPr marL="0" indent="0">
                        <a:buNone/>
                      </a:pPr>
                      <a:r>
                        <a:rPr lang="en-US" sz="1050" b="1" dirty="0">
                          <a:solidFill>
                            <a:srgbClr val="2D3748"/>
                          </a:solidFill>
                          <a:latin typeface="Calibri" pitchFamily="34" charset="0"/>
                          <a:ea typeface="Calibri" pitchFamily="34" charset="-122"/>
                          <a:cs typeface="Calibri" pitchFamily="34" charset="-120"/>
                        </a:rPr>
                        <a:t>Change resistance from the team</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Automation is perceived as a threat, not a help.</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Involve the team in initiative selection and lead with the training initiative early.</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3ED"/>
                    </a:solidFill>
                  </a:tcPr>
                </a:tc>
                <a:extLst>
                  <a:ext uri="{0D108BD9-81ED-4DB2-BD59-A6C34878D82A}">
                    <a16:rowId xmlns:a16="http://schemas.microsoft.com/office/drawing/2014/main" val="10004"/>
                  </a:ext>
                </a:extLst>
              </a:tr>
              <a:tr h="807720">
                <a:tc>
                  <a:txBody>
                    <a:bodyPr/>
                    <a:lstStyle/>
                    <a:p>
                      <a:pPr marL="0" indent="0">
                        <a:buNone/>
                      </a:pPr>
                      <a:r>
                        <a:rPr lang="en-US" sz="1050" b="1" dirty="0">
                          <a:solidFill>
                            <a:srgbClr val="2D3748"/>
                          </a:solidFill>
                          <a:latin typeface="Calibri" pitchFamily="34" charset="0"/>
                          <a:ea typeface="Calibri" pitchFamily="34" charset="-122"/>
                          <a:cs typeface="Calibri" pitchFamily="34" charset="-120"/>
                        </a:rPr>
                        <a:t>Budget overrun on complex initiatives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ERP migration and data warehouse projects are historically hard to estimate.</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050" dirty="0">
                          <a:solidFill>
                            <a:srgbClr val="2D3748"/>
                          </a:solidFill>
                          <a:latin typeface="Calibri" pitchFamily="34" charset="0"/>
                          <a:ea typeface="Calibri" pitchFamily="34" charset="-122"/>
                          <a:cs typeface="Calibri" pitchFamily="34" charset="-120"/>
                        </a:rPr>
                        <a:t>Treat the two highest-effort initiatives as their own separately governed projects.</a:t>
                      </a:r>
                      <a:endParaRPr lang="en-US" sz="1050" dirty="0">
                        <a:latin typeface="Calibri" charset="0"/>
                        <a:ea typeface="Calibri" charset="0"/>
                        <a:cs typeface="Calibri" charset="0"/>
                      </a:endParaRPr>
                    </a:p>
                  </a:txBody>
                  <a:tcPr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528816"/>
            <a:ext cx="868680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MDD Business Consulting  ·  Finance Function Digitalisation Roadmap</a:t>
            </a:r>
            <a:endParaRPr lang="en-US" sz="900" dirty="0"/>
          </a:p>
        </p:txBody>
      </p:sp>
      <p:sp>
        <p:nvSpPr>
          <p:cNvPr id="6" name="Text 3"/>
          <p:cNvSpPr/>
          <p:nvPr/>
        </p:nvSpPr>
        <p:spPr>
          <a:xfrm>
            <a:off x="11521440" y="6528816"/>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31520" y="5029200"/>
            <a:ext cx="2560320" cy="2560320"/>
          </a:xfrm>
          <a:prstGeom prst="ellipse">
            <a:avLst/>
          </a:prstGeom>
          <a:ln w="12700">
            <a:solidFill>
              <a:srgbClr val="C07A2D">
                <a:alpha val="45000"/>
              </a:srgbClr>
            </a:solidFill>
            <a:prstDash val="solid"/>
          </a:ln>
        </p:spPr>
        <p:txBody>
          <a:bodyPr/>
          <a:lstStyle/>
          <a:p>
            <a:endParaRPr lang="en-001"/>
          </a:p>
        </p:txBody>
      </p:sp>
      <p:sp>
        <p:nvSpPr>
          <p:cNvPr id="3" name="Shape 1"/>
          <p:cNvSpPr/>
          <p:nvPr/>
        </p:nvSpPr>
        <p:spPr>
          <a:xfrm>
            <a:off x="-1371600" y="4389120"/>
            <a:ext cx="3840480" cy="3840480"/>
          </a:xfrm>
          <a:prstGeom prst="ellipse">
            <a:avLst/>
          </a:prstGeom>
          <a:ln w="12700">
            <a:solidFill>
              <a:srgbClr val="C07A2D">
                <a:alpha val="37000"/>
              </a:srgbClr>
            </a:solidFill>
            <a:prstDash val="solid"/>
          </a:ln>
        </p:spPr>
        <p:txBody>
          <a:bodyPr/>
          <a:lstStyle/>
          <a:p>
            <a:endParaRPr lang="en-001"/>
          </a:p>
        </p:txBody>
      </p:sp>
      <p:sp>
        <p:nvSpPr>
          <p:cNvPr id="4" name="Shape 2"/>
          <p:cNvSpPr/>
          <p:nvPr/>
        </p:nvSpPr>
        <p:spPr>
          <a:xfrm>
            <a:off x="-2011680" y="3749040"/>
            <a:ext cx="5120640" cy="5120640"/>
          </a:xfrm>
          <a:prstGeom prst="ellipse">
            <a:avLst/>
          </a:prstGeom>
          <a:ln w="12700">
            <a:solidFill>
              <a:srgbClr val="C07A2D">
                <a:alpha val="29000"/>
              </a:srgbClr>
            </a:solidFill>
            <a:prstDash val="solid"/>
          </a:ln>
        </p:spPr>
        <p:txBody>
          <a:bodyPr/>
          <a:lstStyle/>
          <a:p>
            <a:endParaRPr lang="en-001"/>
          </a:p>
        </p:txBody>
      </p:sp>
      <p:sp>
        <p:nvSpPr>
          <p:cNvPr id="5" name="Text 3"/>
          <p:cNvSpPr/>
          <p:nvPr/>
        </p:nvSpPr>
        <p:spPr>
          <a:xfrm>
            <a:off x="640080" y="1188720"/>
            <a:ext cx="7315200" cy="274320"/>
          </a:xfrm>
          <a:prstGeom prst="rect">
            <a:avLst/>
          </a:prstGeom>
          <a:noFill/>
          <a:ln/>
        </p:spPr>
        <p:txBody>
          <a:bodyPr wrap="square" rtlCol="0" anchor="ctr"/>
          <a:lstStyle/>
          <a:p>
            <a:pPr marL="0" indent="0">
              <a:buNone/>
            </a:pPr>
            <a:r>
              <a:rPr lang="en-US" sz="1100" b="1" kern="0" spc="200" dirty="0">
                <a:solidFill>
                  <a:srgbClr val="C07A2D"/>
                </a:solidFill>
                <a:latin typeface="Calibri" pitchFamily="34" charset="0"/>
                <a:ea typeface="Calibri" pitchFamily="34" charset="-122"/>
                <a:cs typeface="Calibri" pitchFamily="34" charset="-120"/>
              </a:rPr>
              <a:t>NEXT STEPS</a:t>
            </a:r>
            <a:endParaRPr lang="en-US" sz="1100" dirty="0"/>
          </a:p>
        </p:txBody>
      </p:sp>
      <p:sp>
        <p:nvSpPr>
          <p:cNvPr id="6" name="Text 4"/>
          <p:cNvSpPr/>
          <p:nvPr/>
        </p:nvSpPr>
        <p:spPr>
          <a:xfrm>
            <a:off x="640080" y="1600200"/>
            <a:ext cx="9601200" cy="822960"/>
          </a:xfrm>
          <a:prstGeom prst="rect">
            <a:avLst/>
          </a:prstGeom>
          <a:noFill/>
          <a:ln/>
        </p:spPr>
        <p:txBody>
          <a:bodyPr wrap="square" rtlCol="0" anchor="ctr"/>
          <a:lstStyle/>
          <a:p>
            <a:pPr marL="0" indent="0">
              <a:buNone/>
            </a:pPr>
            <a:r>
              <a:rPr lang="en-US" sz="3400" b="1" dirty="0">
                <a:solidFill>
                  <a:srgbClr val="FFFFFF"/>
                </a:solidFill>
                <a:latin typeface="Bookman Old Style" pitchFamily="34" charset="0"/>
                <a:ea typeface="Bookman Old Style" pitchFamily="34" charset="-122"/>
                <a:cs typeface="Bookman Old Style" pitchFamily="34" charset="-120"/>
              </a:rPr>
              <a:t>Turning This Into Action</a:t>
            </a:r>
            <a:endParaRPr lang="en-US" sz="3400" dirty="0"/>
          </a:p>
        </p:txBody>
      </p:sp>
      <p:sp>
        <p:nvSpPr>
          <p:cNvPr id="7" name="Shape 5"/>
          <p:cNvSpPr/>
          <p:nvPr/>
        </p:nvSpPr>
        <p:spPr>
          <a:xfrm>
            <a:off x="640080" y="2743200"/>
            <a:ext cx="411480" cy="411480"/>
          </a:xfrm>
          <a:prstGeom prst="ellipse">
            <a:avLst/>
          </a:prstGeom>
          <a:solidFill>
            <a:srgbClr val="C07A2D"/>
          </a:solidFill>
          <a:ln/>
        </p:spPr>
        <p:txBody>
          <a:bodyPr/>
          <a:lstStyle/>
          <a:p>
            <a:endParaRPr lang="en-001"/>
          </a:p>
        </p:txBody>
      </p:sp>
      <p:sp>
        <p:nvSpPr>
          <p:cNvPr id="8" name="Text 6"/>
          <p:cNvSpPr/>
          <p:nvPr/>
        </p:nvSpPr>
        <p:spPr>
          <a:xfrm>
            <a:off x="640080" y="2743200"/>
            <a:ext cx="411480" cy="411480"/>
          </a:xfrm>
          <a:prstGeom prst="rect">
            <a:avLst/>
          </a:prstGeom>
          <a:noFill/>
          <a:ln/>
        </p:spPr>
        <p:txBody>
          <a:bodyPr wrap="square" rtlCol="0" anchor="ctr"/>
          <a:lstStyle/>
          <a:p>
            <a:pPr marL="0" indent="0" algn="ctr">
              <a:buNone/>
            </a:pPr>
            <a:r>
              <a:rPr lang="en-US" sz="1300" b="1" dirty="0">
                <a:solidFill>
                  <a:srgbClr val="0D1B2A"/>
                </a:solidFill>
                <a:latin typeface="Bookman Old Style" pitchFamily="34" charset="0"/>
                <a:ea typeface="Bookman Old Style" pitchFamily="34" charset="-122"/>
                <a:cs typeface="Bookman Old Style" pitchFamily="34" charset="-120"/>
              </a:rPr>
              <a:t>1</a:t>
            </a:r>
            <a:endParaRPr lang="en-US" sz="1300" dirty="0"/>
          </a:p>
        </p:txBody>
      </p:sp>
      <p:sp>
        <p:nvSpPr>
          <p:cNvPr id="9" name="Text 7"/>
          <p:cNvSpPr/>
          <p:nvPr/>
        </p:nvSpPr>
        <p:spPr>
          <a:xfrm>
            <a:off x="1234440" y="2697480"/>
            <a:ext cx="9875520" cy="502920"/>
          </a:xfrm>
          <a:prstGeom prst="rect">
            <a:avLst/>
          </a:prstGeom>
          <a:noFill/>
          <a:ln/>
        </p:spPr>
        <p:txBody>
          <a:bodyPr wrap="square" rtlCol="0" anchor="ctr"/>
          <a:lstStyle/>
          <a:p>
            <a:pPr marL="0" indent="0">
              <a:buNone/>
            </a:pPr>
            <a:r>
              <a:rPr lang="en-US" sz="1400" dirty="0">
                <a:solidFill>
                  <a:srgbClr val="E7ECF3"/>
                </a:solidFill>
                <a:latin typeface="Calibri" pitchFamily="34" charset="0"/>
                <a:ea typeface="Calibri" pitchFamily="34" charset="-122"/>
                <a:cs typeface="Calibri" pitchFamily="34" charset="-120"/>
              </a:rPr>
              <a:t>Complete the Current State Assessment as a full finance team, not just leadership.</a:t>
            </a:r>
            <a:endParaRPr lang="en-US" sz="1400" dirty="0"/>
          </a:p>
        </p:txBody>
      </p:sp>
      <p:sp>
        <p:nvSpPr>
          <p:cNvPr id="10" name="Shape 8"/>
          <p:cNvSpPr/>
          <p:nvPr/>
        </p:nvSpPr>
        <p:spPr>
          <a:xfrm>
            <a:off x="640080" y="3401568"/>
            <a:ext cx="411480" cy="411480"/>
          </a:xfrm>
          <a:prstGeom prst="ellipse">
            <a:avLst/>
          </a:prstGeom>
          <a:solidFill>
            <a:srgbClr val="C07A2D"/>
          </a:solidFill>
          <a:ln/>
        </p:spPr>
        <p:txBody>
          <a:bodyPr/>
          <a:lstStyle/>
          <a:p>
            <a:endParaRPr lang="en-001"/>
          </a:p>
        </p:txBody>
      </p:sp>
      <p:sp>
        <p:nvSpPr>
          <p:cNvPr id="11" name="Text 9"/>
          <p:cNvSpPr/>
          <p:nvPr/>
        </p:nvSpPr>
        <p:spPr>
          <a:xfrm>
            <a:off x="640080" y="3401568"/>
            <a:ext cx="411480" cy="411480"/>
          </a:xfrm>
          <a:prstGeom prst="rect">
            <a:avLst/>
          </a:prstGeom>
          <a:noFill/>
          <a:ln/>
        </p:spPr>
        <p:txBody>
          <a:bodyPr wrap="square" rtlCol="0" anchor="ctr"/>
          <a:lstStyle/>
          <a:p>
            <a:pPr marL="0" indent="0" algn="ctr">
              <a:buNone/>
            </a:pPr>
            <a:r>
              <a:rPr lang="en-US" sz="1300" b="1" dirty="0">
                <a:solidFill>
                  <a:srgbClr val="0D1B2A"/>
                </a:solidFill>
                <a:latin typeface="Bookman Old Style" pitchFamily="34" charset="0"/>
                <a:ea typeface="Bookman Old Style" pitchFamily="34" charset="-122"/>
                <a:cs typeface="Bookman Old Style" pitchFamily="34" charset="-120"/>
              </a:rPr>
              <a:t>2</a:t>
            </a:r>
            <a:endParaRPr lang="en-US" sz="1300" dirty="0"/>
          </a:p>
        </p:txBody>
      </p:sp>
      <p:sp>
        <p:nvSpPr>
          <p:cNvPr id="12" name="Text 10"/>
          <p:cNvSpPr/>
          <p:nvPr/>
        </p:nvSpPr>
        <p:spPr>
          <a:xfrm>
            <a:off x="1234440" y="3355848"/>
            <a:ext cx="9875520" cy="502920"/>
          </a:xfrm>
          <a:prstGeom prst="rect">
            <a:avLst/>
          </a:prstGeom>
          <a:noFill/>
          <a:ln/>
        </p:spPr>
        <p:txBody>
          <a:bodyPr wrap="square" rtlCol="0" anchor="ctr"/>
          <a:lstStyle/>
          <a:p>
            <a:pPr marL="0" indent="0">
              <a:buNone/>
            </a:pPr>
            <a:r>
              <a:rPr lang="en-US" sz="1400" dirty="0">
                <a:solidFill>
                  <a:srgbClr val="E7ECF3"/>
                </a:solidFill>
                <a:latin typeface="Calibri" pitchFamily="34" charset="0"/>
                <a:ea typeface="Calibri" pitchFamily="34" charset="-122"/>
                <a:cs typeface="Calibri" pitchFamily="34" charset="-120"/>
              </a:rPr>
              <a:t>Confirm the Priority Framework scoring reflects your organisation's real constraints, not the illustrative example.</a:t>
            </a:r>
            <a:endParaRPr lang="en-US" sz="1400" dirty="0"/>
          </a:p>
        </p:txBody>
      </p:sp>
      <p:sp>
        <p:nvSpPr>
          <p:cNvPr id="13" name="Shape 11"/>
          <p:cNvSpPr/>
          <p:nvPr/>
        </p:nvSpPr>
        <p:spPr>
          <a:xfrm>
            <a:off x="640080" y="4059936"/>
            <a:ext cx="411480" cy="411480"/>
          </a:xfrm>
          <a:prstGeom prst="ellipse">
            <a:avLst/>
          </a:prstGeom>
          <a:solidFill>
            <a:srgbClr val="C07A2D"/>
          </a:solidFill>
          <a:ln/>
        </p:spPr>
        <p:txBody>
          <a:bodyPr/>
          <a:lstStyle/>
          <a:p>
            <a:endParaRPr lang="en-001"/>
          </a:p>
        </p:txBody>
      </p:sp>
      <p:sp>
        <p:nvSpPr>
          <p:cNvPr id="14" name="Text 12"/>
          <p:cNvSpPr/>
          <p:nvPr/>
        </p:nvSpPr>
        <p:spPr>
          <a:xfrm>
            <a:off x="640080" y="4059936"/>
            <a:ext cx="411480" cy="411480"/>
          </a:xfrm>
          <a:prstGeom prst="rect">
            <a:avLst/>
          </a:prstGeom>
          <a:noFill/>
          <a:ln/>
        </p:spPr>
        <p:txBody>
          <a:bodyPr wrap="square" rtlCol="0" anchor="ctr"/>
          <a:lstStyle/>
          <a:p>
            <a:pPr marL="0" indent="0" algn="ctr">
              <a:buNone/>
            </a:pPr>
            <a:r>
              <a:rPr lang="en-US" sz="1300" b="1" dirty="0">
                <a:solidFill>
                  <a:srgbClr val="0D1B2A"/>
                </a:solidFill>
                <a:latin typeface="Bookman Old Style" pitchFamily="34" charset="0"/>
                <a:ea typeface="Bookman Old Style" pitchFamily="34" charset="-122"/>
                <a:cs typeface="Bookman Old Style" pitchFamily="34" charset="-120"/>
              </a:rPr>
              <a:t>3</a:t>
            </a:r>
            <a:endParaRPr lang="en-US" sz="1300" dirty="0"/>
          </a:p>
        </p:txBody>
      </p:sp>
      <p:sp>
        <p:nvSpPr>
          <p:cNvPr id="15" name="Text 13"/>
          <p:cNvSpPr/>
          <p:nvPr/>
        </p:nvSpPr>
        <p:spPr>
          <a:xfrm>
            <a:off x="1234440" y="4014216"/>
            <a:ext cx="9875520" cy="502920"/>
          </a:xfrm>
          <a:prstGeom prst="rect">
            <a:avLst/>
          </a:prstGeom>
          <a:noFill/>
          <a:ln/>
        </p:spPr>
        <p:txBody>
          <a:bodyPr wrap="square" rtlCol="0" anchor="ctr"/>
          <a:lstStyle/>
          <a:p>
            <a:pPr marL="0" indent="0">
              <a:buNone/>
            </a:pPr>
            <a:r>
              <a:rPr lang="en-US" sz="1400" dirty="0">
                <a:solidFill>
                  <a:srgbClr val="E7ECF3"/>
                </a:solidFill>
                <a:latin typeface="Calibri" pitchFamily="34" charset="0"/>
                <a:ea typeface="Calibri" pitchFamily="34" charset="-122"/>
                <a:cs typeface="Calibri" pitchFamily="34" charset="-120"/>
              </a:rPr>
              <a:t>Agree the Phase 1 Quick Wins with a named owner and start date for each.</a:t>
            </a:r>
            <a:endParaRPr lang="en-US" sz="1400" dirty="0"/>
          </a:p>
        </p:txBody>
      </p:sp>
      <p:sp>
        <p:nvSpPr>
          <p:cNvPr id="16" name="Shape 14"/>
          <p:cNvSpPr/>
          <p:nvPr/>
        </p:nvSpPr>
        <p:spPr>
          <a:xfrm>
            <a:off x="640080" y="4718304"/>
            <a:ext cx="411480" cy="411480"/>
          </a:xfrm>
          <a:prstGeom prst="ellipse">
            <a:avLst/>
          </a:prstGeom>
          <a:solidFill>
            <a:srgbClr val="C07A2D"/>
          </a:solidFill>
          <a:ln/>
        </p:spPr>
        <p:txBody>
          <a:bodyPr/>
          <a:lstStyle/>
          <a:p>
            <a:endParaRPr lang="en-001"/>
          </a:p>
        </p:txBody>
      </p:sp>
      <p:sp>
        <p:nvSpPr>
          <p:cNvPr id="17" name="Text 15"/>
          <p:cNvSpPr/>
          <p:nvPr/>
        </p:nvSpPr>
        <p:spPr>
          <a:xfrm>
            <a:off x="640080" y="4718304"/>
            <a:ext cx="411480" cy="411480"/>
          </a:xfrm>
          <a:prstGeom prst="rect">
            <a:avLst/>
          </a:prstGeom>
          <a:noFill/>
          <a:ln/>
        </p:spPr>
        <p:txBody>
          <a:bodyPr wrap="square" rtlCol="0" anchor="ctr"/>
          <a:lstStyle/>
          <a:p>
            <a:pPr marL="0" indent="0" algn="ctr">
              <a:buNone/>
            </a:pPr>
            <a:r>
              <a:rPr lang="en-US" sz="1300" b="1" dirty="0">
                <a:solidFill>
                  <a:srgbClr val="0D1B2A"/>
                </a:solidFill>
                <a:latin typeface="Bookman Old Style" pitchFamily="34" charset="0"/>
                <a:ea typeface="Bookman Old Style" pitchFamily="34" charset="-122"/>
                <a:cs typeface="Bookman Old Style" pitchFamily="34" charset="-120"/>
              </a:rPr>
              <a:t>4</a:t>
            </a:r>
            <a:endParaRPr lang="en-US" sz="1300" dirty="0"/>
          </a:p>
        </p:txBody>
      </p:sp>
      <p:sp>
        <p:nvSpPr>
          <p:cNvPr id="18" name="Text 16"/>
          <p:cNvSpPr/>
          <p:nvPr/>
        </p:nvSpPr>
        <p:spPr>
          <a:xfrm>
            <a:off x="1234440" y="4672584"/>
            <a:ext cx="9875520" cy="502920"/>
          </a:xfrm>
          <a:prstGeom prst="rect">
            <a:avLst/>
          </a:prstGeom>
          <a:noFill/>
          <a:ln/>
        </p:spPr>
        <p:txBody>
          <a:bodyPr wrap="square" rtlCol="0" anchor="ctr"/>
          <a:lstStyle/>
          <a:p>
            <a:pPr marL="0" indent="0">
              <a:buNone/>
            </a:pPr>
            <a:r>
              <a:rPr lang="en-US" sz="1400" dirty="0">
                <a:solidFill>
                  <a:srgbClr val="E7ECF3"/>
                </a:solidFill>
                <a:latin typeface="Calibri" pitchFamily="34" charset="0"/>
                <a:ea typeface="Calibri" pitchFamily="34" charset="-122"/>
                <a:cs typeface="Calibri" pitchFamily="34" charset="-120"/>
              </a:rPr>
              <a:t>Review resourcing with finance leadership before committing to Phase 2 and Phase 3 timing.</a:t>
            </a:r>
            <a:endParaRPr lang="en-US" sz="1400" dirty="0"/>
          </a:p>
        </p:txBody>
      </p:sp>
      <p:sp>
        <p:nvSpPr>
          <p:cNvPr id="19" name="Text 17"/>
          <p:cNvSpPr/>
          <p:nvPr/>
        </p:nvSpPr>
        <p:spPr>
          <a:xfrm>
            <a:off x="640080" y="5943600"/>
            <a:ext cx="5486400" cy="365760"/>
          </a:xfrm>
          <a:prstGeom prst="rect">
            <a:avLst/>
          </a:prstGeom>
          <a:noFill/>
          <a:ln/>
        </p:spPr>
        <p:txBody>
          <a:bodyPr wrap="square" rtlCol="0" anchor="ctr"/>
          <a:lstStyle/>
          <a:p>
            <a:pPr marL="0" indent="0">
              <a:buNone/>
            </a:pPr>
            <a:r>
              <a:rPr lang="en-US" sz="1300" b="1" dirty="0">
                <a:solidFill>
                  <a:srgbClr val="C07A2D"/>
                </a:solidFill>
                <a:latin typeface="Calibri" pitchFamily="34" charset="0"/>
                <a:ea typeface="Calibri" pitchFamily="34" charset="-122"/>
                <a:cs typeface="Calibri" pitchFamily="34" charset="-120"/>
              </a:rPr>
              <a:t>info@mddbusinessconsulting.com</a:t>
            </a:r>
            <a:endParaRPr lang="en-US" sz="1300" dirty="0"/>
          </a:p>
        </p:txBody>
      </p:sp>
      <p:sp>
        <p:nvSpPr>
          <p:cNvPr id="20" name="Text 18"/>
          <p:cNvSpPr/>
          <p:nvPr/>
        </p:nvSpPr>
        <p:spPr>
          <a:xfrm>
            <a:off x="640080" y="6309360"/>
            <a:ext cx="4572000" cy="320040"/>
          </a:xfrm>
          <a:prstGeom prst="rect">
            <a:avLst/>
          </a:prstGeom>
          <a:noFill/>
          <a:ln/>
        </p:spPr>
        <p:txBody>
          <a:bodyPr wrap="square" rtlCol="0" anchor="ctr"/>
          <a:lstStyle/>
          <a:p>
            <a:pPr marL="0" indent="0">
              <a:buNone/>
            </a:pPr>
            <a:r>
              <a:rPr lang="en-US" sz="1000" dirty="0">
                <a:solidFill>
                  <a:srgbClr val="8DA0B8"/>
                </a:solidFill>
                <a:latin typeface="Calibri" pitchFamily="34" charset="0"/>
                <a:ea typeface="Calibri" pitchFamily="34" charset="-122"/>
                <a:cs typeface="Calibri" pitchFamily="34" charset="-120"/>
              </a:rPr>
              <a:t>MDD Business Consulting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1062</Words>
  <Application>Microsoft Office PowerPoint</Application>
  <PresentationFormat>Widescreen</PresentationFormat>
  <Paragraphs>247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midragul</cp:lastModifiedBy>
  <cp:revision>1</cp:revision>
  <dcterms:created xsi:type="dcterms:W3CDTF">2026-08-21T13:49:03Z</dcterms:created>
  <dcterms:modified xsi:type="dcterms:W3CDTF">2026-08-21T14:00:10Z</dcterms:modified>
</cp:coreProperties>
</file>